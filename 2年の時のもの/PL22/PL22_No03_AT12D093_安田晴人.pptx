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59" r:id="rId4"/>
    <p:sldId id="260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4C67AE-07AB-468A-93A7-EA204E2746D2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102F8-3E68-42AF-A9CF-207FDBE3C8D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2676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102F8-3E68-42AF-A9CF-207FDBE3C8D6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602891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102F8-3E68-42AF-A9CF-207FDBE3C8D6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6489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2F216B-460F-D57F-4E59-F0E8C512F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7B733555-FBF1-DBFD-3C92-EE7C60E53F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D6AA192-4F16-0404-0147-7A1AE7527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430E8B5-BA6E-FE5B-4F04-F2DE95EB6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BA18B19-9970-4545-E155-DF1B4751F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8576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1406C2-D431-39DE-1861-815261DFC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EAB657E-506F-353B-27AC-63859DB5E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C5D48D-A700-2986-64D0-1DBC47E9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A858182-3012-EA7C-73E6-130129EFE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10B22F8-C5BE-0108-1290-4B3C28992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027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6A8585-8804-216F-DC85-A4A44709D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52C32C7D-B283-FB41-98D4-A74F733D3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029FD90-2E77-975F-3283-4797A2FB6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3996AE-7A34-8A34-5422-09289F921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FDB36E-F095-1024-C722-1F773088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266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7C71C3-6FDB-AFFC-6D6F-186F1C094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8C79482-164D-79ED-278F-4B88777F72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28C345-7ADD-168F-BD81-AABCC08F40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A8C05A-43EB-B077-08DB-711461293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C09E0B7-89F3-5E3F-A64C-E37E1C171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070AB44-DE7A-3886-D105-763FCE80D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3157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F3D0B-23D1-60FA-1C52-A255E9E6A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9B8D74-9E06-0C18-A9D9-2DCDC58F78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7EAF8A4-2B53-791C-56A3-4CD3BF5C4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E531CA75-266B-FE48-B11E-CB6BC46DCA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DFF6C28-6912-10AA-FDF7-59B339553C6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62BBFC69-20F4-6CF7-F70F-D86387F3E0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3F3FF23-23A1-D919-A2B6-9CCF6FA07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EA4E2CD-3A19-9BC0-3670-915425E7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26497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577C5E7-7DB8-D8D3-ADC8-2FB528584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5796ACCF-5DD7-5B40-75BF-5B31E606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0DE11B7-F000-11C8-A463-7FE84FFF6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9DCCBC-0ACB-D2C7-9BBE-F3C97D824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0007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C4801B0-46AC-819C-3EEE-82B518C54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8E65964B-DF6B-4C81-37F3-CC51CAFE6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B84680F-6E6C-ED79-3C8F-F52347017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536274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E82BF1-983C-6B31-BF33-547605D41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C0E2021-88F4-C737-7F5E-A3FE136E19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B37AD43-17BE-461C-5BCE-81A9C5D97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D873FD3-67D1-764A-1465-A129C131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7EA208A-05F3-5DC7-DE12-49C55C183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83FEC65-4FD2-CB05-2FBD-2C411DAE3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51213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6962AE-68FC-F603-8BFD-6AE461379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746720AE-41E3-AC05-7C1D-6830BD5BC5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04C967A-D814-9A3E-A55A-1A5F4D8B2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3FF6F468-332A-E46F-1C24-D7C3705B4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BBF234D-1743-D2FD-3A7F-2D6C3E4E0C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812BD6-6C16-09F0-C175-316DA1D5C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297075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00BC51-F374-4A19-3AA9-F38D44771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E39D7524-2B94-D6C9-2F90-637067351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D26BBFA-CEEF-99FB-0FF0-394733412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E5AFD7C-D5F0-C122-E4FE-2C26ED4525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D652432-3542-E349-2F52-972DC2CE92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118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24B9C7A-CFBD-D2D3-3442-82D6FE17B5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7FF92A2-19EE-F3D2-2CBE-78FBE15A84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12F0AB-EB99-1048-C887-BD78C2174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5ABB3AF-F116-0C75-BF06-D10ECBDA2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33630C0-49B3-E59D-0AEB-BA3C03C8F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30420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508E9B-CDEB-A384-639B-8623307202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F77E87-7052-5D9E-2E42-5C93221EA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3FE7951-C9EF-8106-3524-CA406B713E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624176-2604-4FC8-95C8-7C8FA7AC5093}" type="datetimeFigureOut">
              <a:rPr kumimoji="1" lang="ja-JP" altLang="en-US" smtClean="0"/>
              <a:t>2024/6/25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AA388D8-6FBE-4D96-D190-7F8B329D916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B67CC6-04DC-7804-748E-A12002BCA2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0E3F5F-5898-480F-B488-D08A78FC9AE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803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fif"/><Relationship Id="rId3" Type="http://schemas.openxmlformats.org/officeDocument/2006/relationships/image" Target="../media/image7.jpg"/><Relationship Id="rId7" Type="http://schemas.openxmlformats.org/officeDocument/2006/relationships/image" Target="../media/image11.jpg"/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32860C3-A35F-C739-EEC6-FCBA0114BC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D4FE957E-1C82-E2EC-2055-0FDB7B9433C3}"/>
              </a:ext>
            </a:extLst>
          </p:cNvPr>
          <p:cNvSpPr/>
          <p:nvPr/>
        </p:nvSpPr>
        <p:spPr>
          <a:xfrm>
            <a:off x="5909187" y="4316362"/>
            <a:ext cx="6282813" cy="2035277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chemeClr val="tx1"/>
                </a:solidFill>
              </a:rPr>
              <a:t>ゲームジャンル：</a:t>
            </a:r>
            <a:r>
              <a:rPr kumimoji="1" lang="en-US" altLang="ja-JP" sz="2000" u="sng" dirty="0">
                <a:solidFill>
                  <a:schemeClr val="tx1"/>
                </a:solidFill>
              </a:rPr>
              <a:t>2D</a:t>
            </a:r>
            <a:r>
              <a:rPr kumimoji="1" lang="ja-JP" altLang="en-US" sz="2000" u="sng" dirty="0">
                <a:solidFill>
                  <a:schemeClr val="tx1"/>
                </a:solidFill>
              </a:rPr>
              <a:t>アクションアドべンチャー</a:t>
            </a:r>
            <a:endParaRPr kumimoji="1" lang="en-US" altLang="ja-JP" sz="2000" u="sng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対応プラットフォーム：</a:t>
            </a:r>
            <a:r>
              <a:rPr lang="en-US" altLang="ja-JP" sz="2000" u="sng" dirty="0">
                <a:solidFill>
                  <a:schemeClr val="tx1"/>
                </a:solidFill>
              </a:rPr>
              <a:t>PC</a:t>
            </a:r>
            <a:r>
              <a:rPr lang="ja-JP" altLang="en-US" sz="2000" u="sng" dirty="0">
                <a:solidFill>
                  <a:schemeClr val="tx1"/>
                </a:solidFill>
              </a:rPr>
              <a:t>・</a:t>
            </a:r>
            <a:r>
              <a:rPr lang="en-US" altLang="ja-JP" sz="2000" u="sng" dirty="0">
                <a:solidFill>
                  <a:schemeClr val="tx1"/>
                </a:solidFill>
              </a:rPr>
              <a:t>Switch</a:t>
            </a:r>
            <a:r>
              <a:rPr lang="ja-JP" altLang="en-US" sz="2000" u="sng" dirty="0">
                <a:solidFill>
                  <a:schemeClr val="tx1"/>
                </a:solidFill>
              </a:rPr>
              <a:t>・</a:t>
            </a:r>
            <a:r>
              <a:rPr lang="en-US" altLang="ja-JP" sz="2000" u="sng" dirty="0">
                <a:solidFill>
                  <a:schemeClr val="tx1"/>
                </a:solidFill>
              </a:rPr>
              <a:t>PS4</a:t>
            </a:r>
            <a:r>
              <a:rPr lang="ja-JP" altLang="en-US" sz="2000" u="sng" dirty="0">
                <a:solidFill>
                  <a:schemeClr val="tx1"/>
                </a:solidFill>
              </a:rPr>
              <a:t>・</a:t>
            </a:r>
            <a:r>
              <a:rPr lang="en-US" altLang="ja-JP" sz="2000" u="sng" dirty="0">
                <a:solidFill>
                  <a:schemeClr val="tx1"/>
                </a:solidFill>
              </a:rPr>
              <a:t>Xbox</a:t>
            </a:r>
          </a:p>
          <a:p>
            <a:r>
              <a:rPr kumimoji="1" lang="ja-JP" altLang="en-US" dirty="0">
                <a:solidFill>
                  <a:schemeClr val="tx1"/>
                </a:solidFill>
              </a:rPr>
              <a:t>プレイ人数：</a:t>
            </a:r>
            <a:r>
              <a:rPr kumimoji="1" lang="en-US" altLang="ja-JP" sz="2000" u="sng" dirty="0">
                <a:solidFill>
                  <a:schemeClr val="tx1"/>
                </a:solidFill>
              </a:rPr>
              <a:t>1</a:t>
            </a:r>
            <a:r>
              <a:rPr kumimoji="1" lang="ja-JP" altLang="en-US" sz="2000" u="sng" dirty="0">
                <a:solidFill>
                  <a:schemeClr val="tx1"/>
                </a:solidFill>
              </a:rPr>
              <a:t>人</a:t>
            </a:r>
            <a:endParaRPr kumimoji="1" lang="en-US" altLang="ja-JP" sz="2000" u="sng" dirty="0">
              <a:solidFill>
                <a:schemeClr val="tx1"/>
              </a:solidFill>
            </a:endParaRPr>
          </a:p>
          <a:p>
            <a:r>
              <a:rPr lang="ja-JP" altLang="en-US" dirty="0">
                <a:solidFill>
                  <a:schemeClr val="tx1"/>
                </a:solidFill>
              </a:rPr>
              <a:t>ターゲット層：</a:t>
            </a:r>
            <a:r>
              <a:rPr lang="ja-JP" altLang="en-US" sz="2000" u="sng" dirty="0">
                <a:solidFill>
                  <a:schemeClr val="tx1"/>
                </a:solidFill>
              </a:rPr>
              <a:t>アクションに自信がある</a:t>
            </a:r>
            <a:r>
              <a:rPr lang="en-US" altLang="ja-JP" sz="2000" u="sng" dirty="0">
                <a:solidFill>
                  <a:schemeClr val="tx1"/>
                </a:solidFill>
              </a:rPr>
              <a:t>20</a:t>
            </a:r>
            <a:r>
              <a:rPr lang="ja-JP" altLang="en-US" sz="2000" u="sng" dirty="0">
                <a:solidFill>
                  <a:schemeClr val="tx1"/>
                </a:solidFill>
              </a:rPr>
              <a:t>代～</a:t>
            </a:r>
            <a:r>
              <a:rPr lang="en-US" altLang="ja-JP" sz="2000" u="sng" dirty="0">
                <a:solidFill>
                  <a:schemeClr val="tx1"/>
                </a:solidFill>
              </a:rPr>
              <a:t>30</a:t>
            </a:r>
            <a:r>
              <a:rPr lang="ja-JP" altLang="en-US" sz="2000" u="sng" dirty="0">
                <a:solidFill>
                  <a:schemeClr val="tx1"/>
                </a:solidFill>
              </a:rPr>
              <a:t>代</a:t>
            </a:r>
            <a:endParaRPr kumimoji="1" lang="en-US" altLang="ja-JP" sz="2000" u="sng" dirty="0">
              <a:solidFill>
                <a:schemeClr val="tx1"/>
              </a:solidFill>
            </a:endParaRPr>
          </a:p>
          <a:p>
            <a:r>
              <a:rPr lang="ja-JP" altLang="en-US" sz="2000" dirty="0">
                <a:solidFill>
                  <a:schemeClr val="tx1"/>
                </a:solidFill>
              </a:rPr>
              <a:t>制作日：</a:t>
            </a:r>
            <a:r>
              <a:rPr lang="en-US" altLang="ja-JP" sz="2000" dirty="0">
                <a:solidFill>
                  <a:schemeClr val="tx1"/>
                </a:solidFill>
              </a:rPr>
              <a:t>2024/06/18	</a:t>
            </a:r>
            <a:r>
              <a:rPr lang="ja-JP" altLang="en-US" sz="2000" dirty="0">
                <a:solidFill>
                  <a:schemeClr val="tx1"/>
                </a:solidFill>
              </a:rPr>
              <a:t>制作者：安田晴人</a:t>
            </a:r>
            <a:endParaRPr kumimoji="1" lang="ja-JP" altLang="en-US" sz="2000" dirty="0">
              <a:solidFill>
                <a:schemeClr val="tx1"/>
              </a:solidFill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7825566-93F0-DEF3-56DD-843E4A8BBB48}"/>
              </a:ext>
            </a:extLst>
          </p:cNvPr>
          <p:cNvSpPr/>
          <p:nvPr/>
        </p:nvSpPr>
        <p:spPr>
          <a:xfrm>
            <a:off x="6764594" y="580103"/>
            <a:ext cx="5240593" cy="84557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rgbClr val="8E0000"/>
                </a:solidFill>
              </a:rPr>
              <a:t>アクションで進む戦闘と探索</a:t>
            </a:r>
            <a:endParaRPr kumimoji="1" lang="en-US" altLang="ja-JP" sz="2800" b="1" dirty="0">
              <a:solidFill>
                <a:srgbClr val="8E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17943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57C25564-7674-28E0-077B-432EFFD6025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38"/>
            <a:ext cx="12192000" cy="6841924"/>
          </a:xfrm>
          <a:prstGeom prst="rect">
            <a:avLst/>
          </a:prstGeom>
        </p:spPr>
      </p:pic>
      <p:pic>
        <p:nvPicPr>
          <p:cNvPr id="7" name="図 6" descr="座る, テーブル, 鳥, 大きい が含まれている画像&#10;&#10;自動的に生成された説明">
            <a:extLst>
              <a:ext uri="{FF2B5EF4-FFF2-40B4-BE49-F238E27FC236}">
                <a16:creationId xmlns:a16="http://schemas.microsoft.com/office/drawing/2014/main" id="{0E7D8C42-7CB3-6519-100D-A076C3178D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9104" y="1080651"/>
            <a:ext cx="5386896" cy="3030129"/>
          </a:xfrm>
          <a:prstGeom prst="rect">
            <a:avLst/>
          </a:prstGeom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76E5BD0-CD66-851C-5886-930F49A6CFB9}"/>
              </a:ext>
            </a:extLst>
          </p:cNvPr>
          <p:cNvSpPr/>
          <p:nvPr/>
        </p:nvSpPr>
        <p:spPr>
          <a:xfrm>
            <a:off x="709104" y="121558"/>
            <a:ext cx="11159613" cy="845574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solidFill>
                  <a:srgbClr val="8E0000"/>
                </a:solidFill>
              </a:rPr>
              <a:t>アクションで進む戦闘と探索</a:t>
            </a:r>
            <a:endParaRPr kumimoji="1" lang="en-US" altLang="ja-JP" sz="2800" b="1" dirty="0">
              <a:solidFill>
                <a:srgbClr val="8E0000"/>
              </a:solidFill>
            </a:endParaRP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689B61D3-8E33-B415-703D-5184D5A8F8F2}"/>
              </a:ext>
            </a:extLst>
          </p:cNvPr>
          <p:cNvSpPr/>
          <p:nvPr/>
        </p:nvSpPr>
        <p:spPr>
          <a:xfrm>
            <a:off x="836332" y="4387160"/>
            <a:ext cx="5132439" cy="2295832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ステージにいる敵やギミックを</a:t>
            </a:r>
            <a:r>
              <a:rPr kumimoji="1" lang="ja-JP" altLang="en-US" sz="2400" u="sng" dirty="0">
                <a:solidFill>
                  <a:schemeClr val="tx1"/>
                </a:solidFill>
              </a:rPr>
              <a:t>ダッシュ</a:t>
            </a:r>
            <a:r>
              <a:rPr kumimoji="1" lang="ja-JP" altLang="en-US" sz="2400" dirty="0">
                <a:solidFill>
                  <a:schemeClr val="tx1"/>
                </a:solidFill>
              </a:rPr>
              <a:t>、</a:t>
            </a:r>
            <a:r>
              <a:rPr kumimoji="1" lang="ja-JP" altLang="en-US" sz="2400" u="sng" dirty="0">
                <a:solidFill>
                  <a:schemeClr val="tx1"/>
                </a:solidFill>
              </a:rPr>
              <a:t>ジャンプ</a:t>
            </a:r>
            <a:r>
              <a:rPr kumimoji="1" lang="ja-JP" altLang="en-US" sz="2400" dirty="0">
                <a:solidFill>
                  <a:schemeClr val="tx1"/>
                </a:solidFill>
              </a:rPr>
              <a:t>、上下左右の</a:t>
            </a:r>
            <a:r>
              <a:rPr kumimoji="1" lang="en-US" altLang="ja-JP" sz="2400" dirty="0">
                <a:solidFill>
                  <a:schemeClr val="tx1"/>
                </a:solidFill>
              </a:rPr>
              <a:t>4</a:t>
            </a:r>
            <a:r>
              <a:rPr kumimoji="1" lang="ja-JP" altLang="en-US" sz="2400" dirty="0">
                <a:solidFill>
                  <a:schemeClr val="tx1"/>
                </a:solidFill>
              </a:rPr>
              <a:t>方向に向けての</a:t>
            </a:r>
            <a:r>
              <a:rPr kumimoji="1" lang="ja-JP" altLang="en-US" sz="2400" u="sng" dirty="0">
                <a:solidFill>
                  <a:schemeClr val="tx1"/>
                </a:solidFill>
              </a:rPr>
              <a:t>攻撃</a:t>
            </a:r>
            <a:r>
              <a:rPr kumimoji="1" lang="ja-JP" altLang="en-US" sz="2400" dirty="0">
                <a:solidFill>
                  <a:schemeClr val="tx1"/>
                </a:solidFill>
              </a:rPr>
              <a:t>を駆使して進んでいく</a:t>
            </a:r>
            <a:r>
              <a:rPr kumimoji="1" lang="en-US" altLang="ja-JP" sz="2400" dirty="0">
                <a:solidFill>
                  <a:schemeClr val="tx1"/>
                </a:solidFill>
              </a:rPr>
              <a:t>2D </a:t>
            </a:r>
            <a:r>
              <a:rPr kumimoji="1" lang="ja-JP" altLang="en-US" sz="2400" dirty="0">
                <a:solidFill>
                  <a:schemeClr val="tx1"/>
                </a:solidFill>
              </a:rPr>
              <a:t>アクションアドべンチャーゲームです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DBA7CFB9-C072-FF7B-C6F2-2F5EB23AC34A}"/>
              </a:ext>
            </a:extLst>
          </p:cNvPr>
          <p:cNvSpPr/>
          <p:nvPr/>
        </p:nvSpPr>
        <p:spPr>
          <a:xfrm>
            <a:off x="6363242" y="4265868"/>
            <a:ext cx="5624053" cy="2576320"/>
          </a:xfrm>
          <a:prstGeom prst="roundRect">
            <a:avLst/>
          </a:prstGeom>
          <a:solidFill>
            <a:schemeClr val="tx2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400" dirty="0">
                <a:solidFill>
                  <a:schemeClr val="tx1"/>
                </a:solidFill>
              </a:rPr>
              <a:t>爽快感</a:t>
            </a:r>
            <a:r>
              <a:rPr lang="ja-JP" altLang="en-US" sz="2400" dirty="0">
                <a:solidFill>
                  <a:schemeClr val="tx1"/>
                </a:solidFill>
              </a:rPr>
              <a:t>あふれる</a:t>
            </a:r>
            <a:r>
              <a:rPr kumimoji="1" lang="ja-JP" altLang="en-US" sz="2400" dirty="0">
                <a:solidFill>
                  <a:schemeClr val="tx1"/>
                </a:solidFill>
              </a:rPr>
              <a:t>アクションでの戦闘が他の２</a:t>
            </a:r>
            <a:r>
              <a:rPr kumimoji="1" lang="en-US" altLang="ja-JP" sz="2400" dirty="0">
                <a:solidFill>
                  <a:schemeClr val="tx1"/>
                </a:solidFill>
              </a:rPr>
              <a:t>D </a:t>
            </a:r>
            <a:r>
              <a:rPr kumimoji="1" lang="ja-JP" altLang="en-US" sz="2400" dirty="0">
                <a:solidFill>
                  <a:schemeClr val="tx1"/>
                </a:solidFill>
              </a:rPr>
              <a:t>アクションアドベンチャーゲームに比べてオリジナリティとしてあり、</a:t>
            </a:r>
            <a:r>
              <a:rPr kumimoji="1" lang="ja-JP" altLang="en-US" sz="2400" u="sng" dirty="0">
                <a:solidFill>
                  <a:schemeClr val="tx1"/>
                </a:solidFill>
              </a:rPr>
              <a:t>敵やボスの種類の豊富さ</a:t>
            </a:r>
            <a:r>
              <a:rPr kumimoji="1" lang="ja-JP" altLang="en-US" sz="2400" dirty="0">
                <a:solidFill>
                  <a:schemeClr val="tx1"/>
                </a:solidFill>
              </a:rPr>
              <a:t>がより戦闘面を引き立てています</a:t>
            </a:r>
          </a:p>
        </p:txBody>
      </p:sp>
      <p:pic>
        <p:nvPicPr>
          <p:cNvPr id="10" name="図 9" descr="背景パターン が含まれている画像&#10;&#10;自動的に生成された説明">
            <a:extLst>
              <a:ext uri="{FF2B5EF4-FFF2-40B4-BE49-F238E27FC236}">
                <a16:creationId xmlns:a16="http://schemas.microsoft.com/office/drawing/2014/main" id="{285AF374-73BA-6943-B3E2-87F07752704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1821" y="1080650"/>
            <a:ext cx="5386896" cy="3030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72041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06E68697-1426-3A52-BF03-B3E67B0AB8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38"/>
            <a:ext cx="12192000" cy="6841924"/>
          </a:xfrm>
          <a:prstGeom prst="rect">
            <a:avLst/>
          </a:prstGeom>
        </p:spPr>
      </p:pic>
      <p:pic>
        <p:nvPicPr>
          <p:cNvPr id="4" name="図 3" descr="キーボードとマウス&#10;&#10;自動的に生成された説明">
            <a:extLst>
              <a:ext uri="{FF2B5EF4-FFF2-40B4-BE49-F238E27FC236}">
                <a16:creationId xmlns:a16="http://schemas.microsoft.com/office/drawing/2014/main" id="{F51DE023-8EB4-2FA3-15E4-E8C95364ED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7664" y="4012473"/>
            <a:ext cx="6056672" cy="1804888"/>
          </a:xfrm>
          <a:prstGeom prst="rect">
            <a:avLst/>
          </a:prstGeom>
        </p:spPr>
      </p:pic>
      <p:pic>
        <p:nvPicPr>
          <p:cNvPr id="5" name="図 4" descr="ステージで演奏している人たちの絵&#10;&#10;自動的に生成された説明">
            <a:extLst>
              <a:ext uri="{FF2B5EF4-FFF2-40B4-BE49-F238E27FC236}">
                <a16:creationId xmlns:a16="http://schemas.microsoft.com/office/drawing/2014/main" id="{E930ED70-5ACA-22A5-8793-96E5763440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6442" y="268248"/>
            <a:ext cx="5619115" cy="3160752"/>
          </a:xfrm>
          <a:prstGeom prst="rect">
            <a:avLst/>
          </a:prstGeom>
        </p:spPr>
      </p:pic>
      <p:sp>
        <p:nvSpPr>
          <p:cNvPr id="6" name="楕円 5">
            <a:extLst>
              <a:ext uri="{FF2B5EF4-FFF2-40B4-BE49-F238E27FC236}">
                <a16:creationId xmlns:a16="http://schemas.microsoft.com/office/drawing/2014/main" id="{2997B3BC-8449-8C9B-E56A-35376AB3CA00}"/>
              </a:ext>
            </a:extLst>
          </p:cNvPr>
          <p:cNvSpPr/>
          <p:nvPr/>
        </p:nvSpPr>
        <p:spPr>
          <a:xfrm>
            <a:off x="4061954" y="454397"/>
            <a:ext cx="893504" cy="243348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3F0FEC8-87A4-D887-3E58-5607CF3D5CC1}"/>
              </a:ext>
            </a:extLst>
          </p:cNvPr>
          <p:cNvSpPr/>
          <p:nvPr/>
        </p:nvSpPr>
        <p:spPr>
          <a:xfrm>
            <a:off x="3614588" y="412955"/>
            <a:ext cx="447366" cy="496529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81DFDC4D-C352-9FCC-7193-73B00D28D601}"/>
              </a:ext>
            </a:extLst>
          </p:cNvPr>
          <p:cNvSpPr/>
          <p:nvPr/>
        </p:nvSpPr>
        <p:spPr>
          <a:xfrm>
            <a:off x="4061954" y="697745"/>
            <a:ext cx="447366" cy="221226"/>
          </a:xfrm>
          <a:prstGeom prst="ellipse">
            <a:avLst/>
          </a:prstGeom>
          <a:noFill/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FBB6761-2E57-4BE1-6936-EE5F7411C5B1}"/>
              </a:ext>
            </a:extLst>
          </p:cNvPr>
          <p:cNvSpPr/>
          <p:nvPr/>
        </p:nvSpPr>
        <p:spPr>
          <a:xfrm>
            <a:off x="6864148" y="1354234"/>
            <a:ext cx="677193" cy="66137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吹き出し: 四角形 9">
            <a:extLst>
              <a:ext uri="{FF2B5EF4-FFF2-40B4-BE49-F238E27FC236}">
                <a16:creationId xmlns:a16="http://schemas.microsoft.com/office/drawing/2014/main" id="{78941FFB-4837-5713-3F4E-9E513EFB9DEA}"/>
              </a:ext>
            </a:extLst>
          </p:cNvPr>
          <p:cNvSpPr/>
          <p:nvPr/>
        </p:nvSpPr>
        <p:spPr>
          <a:xfrm>
            <a:off x="9514528" y="576071"/>
            <a:ext cx="2133600" cy="1219200"/>
          </a:xfrm>
          <a:prstGeom prst="wedgeRectCallout">
            <a:avLst>
              <a:gd name="adj1" fmla="val -146639"/>
              <a:gd name="adj2" fmla="val 38306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プレイヤー</a:t>
            </a:r>
            <a:endParaRPr kumimoji="1" lang="en-US" altLang="ja-JP" dirty="0">
              <a:solidFill>
                <a:sysClr val="windowText" lastClr="000000"/>
              </a:solidFill>
            </a:endParaRPr>
          </a:p>
        </p:txBody>
      </p:sp>
      <p:sp>
        <p:nvSpPr>
          <p:cNvPr id="12" name="吹き出し: 線 11">
            <a:extLst>
              <a:ext uri="{FF2B5EF4-FFF2-40B4-BE49-F238E27FC236}">
                <a16:creationId xmlns:a16="http://schemas.microsoft.com/office/drawing/2014/main" id="{3315C387-4721-BCDC-797D-8FDE648BDDB0}"/>
              </a:ext>
            </a:extLst>
          </p:cNvPr>
          <p:cNvSpPr/>
          <p:nvPr/>
        </p:nvSpPr>
        <p:spPr>
          <a:xfrm flipH="1">
            <a:off x="138279" y="1464084"/>
            <a:ext cx="2539192" cy="1364707"/>
          </a:xfrm>
          <a:prstGeom prst="borderCallout1">
            <a:avLst>
              <a:gd name="adj1" fmla="val 18750"/>
              <a:gd name="adj2" fmla="val -201"/>
              <a:gd name="adj3" fmla="val -48164"/>
              <a:gd name="adj4" fmla="val -38720"/>
            </a:avLst>
          </a:prstGeom>
          <a:solidFill>
            <a:schemeClr val="accent3">
              <a:lumMod val="40000"/>
              <a:lumOff val="60000"/>
            </a:schemeClr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ソウル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特別な攻撃方法などを使うのに必要、攻撃を当てることで手に入る</a:t>
            </a:r>
            <a:endParaRPr lang="en-US" altLang="ja-JP" dirty="0">
              <a:solidFill>
                <a:sysClr val="windowText" lastClr="000000"/>
              </a:solidFill>
            </a:endParaRPr>
          </a:p>
        </p:txBody>
      </p:sp>
      <p:sp>
        <p:nvSpPr>
          <p:cNvPr id="13" name="吹き出し: 線 12">
            <a:extLst>
              <a:ext uri="{FF2B5EF4-FFF2-40B4-BE49-F238E27FC236}">
                <a16:creationId xmlns:a16="http://schemas.microsoft.com/office/drawing/2014/main" id="{CCC1F05D-2C73-3758-519E-57907418CFC3}"/>
              </a:ext>
            </a:extLst>
          </p:cNvPr>
          <p:cNvSpPr/>
          <p:nvPr/>
        </p:nvSpPr>
        <p:spPr>
          <a:xfrm flipH="1">
            <a:off x="138279" y="3125880"/>
            <a:ext cx="2539192" cy="1142331"/>
          </a:xfrm>
          <a:prstGeom prst="borderCallout1">
            <a:avLst>
              <a:gd name="adj1" fmla="val 18750"/>
              <a:gd name="adj2" fmla="val 186"/>
              <a:gd name="adj3" fmla="val -191334"/>
              <a:gd name="adj4" fmla="val -60792"/>
            </a:avLst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ジオ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このゲームの通貨、敵を倒したりすることで手に入る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6" name="吹き出し: 折線 15">
            <a:extLst>
              <a:ext uri="{FF2B5EF4-FFF2-40B4-BE49-F238E27FC236}">
                <a16:creationId xmlns:a16="http://schemas.microsoft.com/office/drawing/2014/main" id="{20ABE46D-696D-FDD1-B1FD-C6E963B03ADC}"/>
              </a:ext>
            </a:extLst>
          </p:cNvPr>
          <p:cNvSpPr/>
          <p:nvPr/>
        </p:nvSpPr>
        <p:spPr>
          <a:xfrm flipH="1">
            <a:off x="111853" y="98324"/>
            <a:ext cx="3055368" cy="1068672"/>
          </a:xfrm>
          <a:prstGeom prst="borderCallout2">
            <a:avLst>
              <a:gd name="adj1" fmla="val 18750"/>
              <a:gd name="adj2" fmla="val -131"/>
              <a:gd name="adj3" fmla="val 1089"/>
              <a:gd name="adj4" fmla="val -25210"/>
              <a:gd name="adj5" fmla="val 29101"/>
              <a:gd name="adj6" fmla="val -43933"/>
            </a:avLst>
          </a:prstGeom>
          <a:solidFill>
            <a:schemeClr val="accent1">
              <a:lumMod val="40000"/>
              <a:lumOff val="6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体力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敵の攻撃を受けると減りすべて失うと死んでしまう</a:t>
            </a:r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B2BB3399-8BBD-D0B5-40E2-9FFDB16DDBD0}"/>
              </a:ext>
            </a:extLst>
          </p:cNvPr>
          <p:cNvSpPr/>
          <p:nvPr/>
        </p:nvSpPr>
        <p:spPr>
          <a:xfrm>
            <a:off x="7148052" y="5063614"/>
            <a:ext cx="816077" cy="7537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吹き出し: 線 17">
            <a:extLst>
              <a:ext uri="{FF2B5EF4-FFF2-40B4-BE49-F238E27FC236}">
                <a16:creationId xmlns:a16="http://schemas.microsoft.com/office/drawing/2014/main" id="{659C67C1-A6DC-446A-2C07-7CAF63234EB6}"/>
              </a:ext>
            </a:extLst>
          </p:cNvPr>
          <p:cNvSpPr/>
          <p:nvPr/>
        </p:nvSpPr>
        <p:spPr>
          <a:xfrm>
            <a:off x="9514528" y="3815549"/>
            <a:ext cx="2458065" cy="1056045"/>
          </a:xfrm>
          <a:prstGeom prst="borderCallout1">
            <a:avLst>
              <a:gd name="adj1" fmla="val 28991"/>
              <a:gd name="adj2" fmla="val 1471"/>
              <a:gd name="adj3" fmla="val 133914"/>
              <a:gd name="adj4" fmla="val -6593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左右キーで移動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上下キーで上と下を向く</a:t>
            </a:r>
          </a:p>
        </p:txBody>
      </p:sp>
      <p:sp>
        <p:nvSpPr>
          <p:cNvPr id="19" name="楕円 18">
            <a:extLst>
              <a:ext uri="{FF2B5EF4-FFF2-40B4-BE49-F238E27FC236}">
                <a16:creationId xmlns:a16="http://schemas.microsoft.com/office/drawing/2014/main" id="{2A9F3E9B-A071-E23E-C9BC-66681155721F}"/>
              </a:ext>
            </a:extLst>
          </p:cNvPr>
          <p:cNvSpPr/>
          <p:nvPr/>
        </p:nvSpPr>
        <p:spPr>
          <a:xfrm>
            <a:off x="3614588" y="5063614"/>
            <a:ext cx="894732" cy="393289"/>
          </a:xfrm>
          <a:prstGeom prst="ellipse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吹き出し: 線 19">
            <a:extLst>
              <a:ext uri="{FF2B5EF4-FFF2-40B4-BE49-F238E27FC236}">
                <a16:creationId xmlns:a16="http://schemas.microsoft.com/office/drawing/2014/main" id="{A4BCF786-66DD-52D1-32F9-8F6ED94FD482}"/>
              </a:ext>
            </a:extLst>
          </p:cNvPr>
          <p:cNvSpPr/>
          <p:nvPr/>
        </p:nvSpPr>
        <p:spPr>
          <a:xfrm>
            <a:off x="111853" y="4869322"/>
            <a:ext cx="1632474" cy="1142331"/>
          </a:xfrm>
          <a:prstGeom prst="borderCallout1">
            <a:avLst>
              <a:gd name="adj1" fmla="val 34243"/>
              <a:gd name="adj2" fmla="val 99267"/>
              <a:gd name="adj3" fmla="val 36757"/>
              <a:gd name="adj4" fmla="val 214535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dirty="0">
                <a:solidFill>
                  <a:sysClr val="windowText" lastClr="000000"/>
                </a:solidFill>
              </a:rPr>
              <a:t>Z</a:t>
            </a:r>
            <a:r>
              <a:rPr lang="ja-JP" altLang="en-US" dirty="0">
                <a:solidFill>
                  <a:sysClr val="windowText" lastClr="000000"/>
                </a:solidFill>
              </a:rPr>
              <a:t>：ジャンプ</a:t>
            </a:r>
            <a:endParaRPr lang="en-US" altLang="ja-JP" dirty="0">
              <a:solidFill>
                <a:sysClr val="windowText" lastClr="000000"/>
              </a:solidFill>
            </a:endParaRPr>
          </a:p>
          <a:p>
            <a:r>
              <a:rPr kumimoji="1" lang="en-US" altLang="ja-JP" dirty="0">
                <a:solidFill>
                  <a:sysClr val="windowText" lastClr="000000"/>
                </a:solidFill>
              </a:rPr>
              <a:t>X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：攻撃</a:t>
            </a:r>
            <a:endParaRPr kumimoji="1" lang="en-US" altLang="ja-JP" dirty="0">
              <a:solidFill>
                <a:sysClr val="windowText" lastClr="000000"/>
              </a:solidFill>
            </a:endParaRPr>
          </a:p>
          <a:p>
            <a:r>
              <a:rPr kumimoji="1" lang="en-US" altLang="ja-JP" dirty="0">
                <a:solidFill>
                  <a:sysClr val="windowText" lastClr="000000"/>
                </a:solidFill>
              </a:rPr>
              <a:t>C</a:t>
            </a:r>
            <a:r>
              <a:rPr kumimoji="1" lang="ja-JP" altLang="en-US" dirty="0">
                <a:solidFill>
                  <a:sysClr val="windowText" lastClr="000000"/>
                </a:solidFill>
              </a:rPr>
              <a:t>：ダッシュ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8EF41651-1DD8-8166-8808-D4F35DAB4BB2}"/>
              </a:ext>
            </a:extLst>
          </p:cNvPr>
          <p:cNvSpPr/>
          <p:nvPr/>
        </p:nvSpPr>
        <p:spPr>
          <a:xfrm>
            <a:off x="9514528" y="5260258"/>
            <a:ext cx="2458065" cy="129785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マウスを使わなくてもプレイができる！</a:t>
            </a:r>
          </a:p>
        </p:txBody>
      </p:sp>
    </p:spTree>
    <p:extLst>
      <p:ext uri="{BB962C8B-B14F-4D97-AF65-F5344CB8AC3E}">
        <p14:creationId xmlns:p14="http://schemas.microsoft.com/office/powerpoint/2010/main" val="2069333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 descr="グラフィカル ユーザー インターフェイス&#10;&#10;中程度の精度で自動的に生成された説明">
            <a:extLst>
              <a:ext uri="{FF2B5EF4-FFF2-40B4-BE49-F238E27FC236}">
                <a16:creationId xmlns:a16="http://schemas.microsoft.com/office/drawing/2014/main" id="{06E68697-1426-3A52-BF03-B3E67B0AB8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36" y="8038"/>
            <a:ext cx="12192000" cy="6841924"/>
          </a:xfrm>
          <a:prstGeom prst="rect">
            <a:avLst/>
          </a:prstGeom>
        </p:spPr>
      </p:pic>
      <p:pic>
        <p:nvPicPr>
          <p:cNvPr id="4" name="図 3" descr="暗い, 男, 座る, モニター が含まれている画像&#10;&#10;自動的に生成された説明">
            <a:extLst>
              <a:ext uri="{FF2B5EF4-FFF2-40B4-BE49-F238E27FC236}">
                <a16:creationId xmlns:a16="http://schemas.microsoft.com/office/drawing/2014/main" id="{38C98411-6832-F7E2-61C6-265C0DB5DF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38"/>
            <a:ext cx="3347337" cy="1882877"/>
          </a:xfrm>
          <a:prstGeom prst="rect">
            <a:avLst/>
          </a:prstGeom>
        </p:spPr>
      </p:pic>
      <p:pic>
        <p:nvPicPr>
          <p:cNvPr id="6" name="図 5" descr="テレビゲームの一場面&#10;&#10;低い精度で自動的に生成された説明">
            <a:extLst>
              <a:ext uri="{FF2B5EF4-FFF2-40B4-BE49-F238E27FC236}">
                <a16:creationId xmlns:a16="http://schemas.microsoft.com/office/drawing/2014/main" id="{6DF014A7-67EC-C390-1913-85AB7C545A1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128" y="8038"/>
            <a:ext cx="3347338" cy="1882878"/>
          </a:xfrm>
          <a:prstGeom prst="rect">
            <a:avLst/>
          </a:prstGeom>
        </p:spPr>
      </p:pic>
      <p:pic>
        <p:nvPicPr>
          <p:cNvPr id="10" name="図 9" descr="火, 電車 が含まれている画像&#10;&#10;自動的に生成された説明">
            <a:extLst>
              <a:ext uri="{FF2B5EF4-FFF2-40B4-BE49-F238E27FC236}">
                <a16:creationId xmlns:a16="http://schemas.microsoft.com/office/drawing/2014/main" id="{31D9754E-D3FF-32C0-EAE6-3F3719233DA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1131" y="3429000"/>
            <a:ext cx="3647195" cy="1882877"/>
          </a:xfrm>
          <a:prstGeom prst="rect">
            <a:avLst/>
          </a:prstGeom>
        </p:spPr>
      </p:pic>
      <p:pic>
        <p:nvPicPr>
          <p:cNvPr id="12" name="図 11" descr="カレンダー&#10;&#10;中程度の精度で自動的に生成された説明">
            <a:extLst>
              <a:ext uri="{FF2B5EF4-FFF2-40B4-BE49-F238E27FC236}">
                <a16:creationId xmlns:a16="http://schemas.microsoft.com/office/drawing/2014/main" id="{16ED18C8-778E-0F8F-3DFB-FCA876BDCA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429000"/>
            <a:ext cx="3347336" cy="1882877"/>
          </a:xfrm>
          <a:prstGeom prst="rect">
            <a:avLst/>
          </a:prstGeom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29A1575-3EF1-CE83-3EFC-05E09E858F40}"/>
              </a:ext>
            </a:extLst>
          </p:cNvPr>
          <p:cNvSpPr/>
          <p:nvPr/>
        </p:nvSpPr>
        <p:spPr>
          <a:xfrm>
            <a:off x="0" y="1890915"/>
            <a:ext cx="3347336" cy="8129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新しいエリアに行く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4D675890-D243-FB2F-2600-4248585A721C}"/>
              </a:ext>
            </a:extLst>
          </p:cNvPr>
          <p:cNvSpPr/>
          <p:nvPr/>
        </p:nvSpPr>
        <p:spPr>
          <a:xfrm>
            <a:off x="4822397" y="1890915"/>
            <a:ext cx="3347336" cy="8129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敵と戦いつつエリアを探索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CAC3A26-6957-99E1-4100-3322BCE40E9A}"/>
              </a:ext>
            </a:extLst>
          </p:cNvPr>
          <p:cNvSpPr/>
          <p:nvPr/>
        </p:nvSpPr>
        <p:spPr>
          <a:xfrm>
            <a:off x="-1" y="5311877"/>
            <a:ext cx="3347336" cy="8129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新しい能力を手に入れる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EA1CF85-1D89-E7A0-8AFA-4EC84C7E8D53}"/>
              </a:ext>
            </a:extLst>
          </p:cNvPr>
          <p:cNvSpPr/>
          <p:nvPr/>
        </p:nvSpPr>
        <p:spPr>
          <a:xfrm>
            <a:off x="4801128" y="5311877"/>
            <a:ext cx="3647195" cy="812956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そのエリアのボスを倒す</a:t>
            </a:r>
          </a:p>
        </p:txBody>
      </p:sp>
      <p:pic>
        <p:nvPicPr>
          <p:cNvPr id="24" name="図 23" descr="背景パターン&#10;&#10;自動的に生成された説明">
            <a:extLst>
              <a:ext uri="{FF2B5EF4-FFF2-40B4-BE49-F238E27FC236}">
                <a16:creationId xmlns:a16="http://schemas.microsoft.com/office/drawing/2014/main" id="{6E4D20C1-CEA4-7A5A-7CB3-09E29D4E77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1755" y="961768"/>
            <a:ext cx="2330245" cy="2330245"/>
          </a:xfrm>
          <a:prstGeom prst="rect">
            <a:avLst/>
          </a:prstGeom>
        </p:spPr>
      </p:pic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D7AE5847-9F4D-5448-F43A-9510A28DC8FC}"/>
              </a:ext>
            </a:extLst>
          </p:cNvPr>
          <p:cNvSpPr/>
          <p:nvPr/>
        </p:nvSpPr>
        <p:spPr>
          <a:xfrm>
            <a:off x="9861754" y="3292013"/>
            <a:ext cx="2330245" cy="6980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ysClr val="windowText" lastClr="000000"/>
                </a:solidFill>
              </a:rPr>
              <a:t>豊富な敵キャラ</a:t>
            </a:r>
          </a:p>
        </p:txBody>
      </p:sp>
      <p:pic>
        <p:nvPicPr>
          <p:cNvPr id="27" name="図 26" descr="電子機器, 回路 が含まれている画像&#10;&#10;自動的に生成された説明">
            <a:extLst>
              <a:ext uri="{FF2B5EF4-FFF2-40B4-BE49-F238E27FC236}">
                <a16:creationId xmlns:a16="http://schemas.microsoft.com/office/drawing/2014/main" id="{2723C1BB-0FCA-2F9E-AB0B-CA1FF9C2EC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7589" y="4670326"/>
            <a:ext cx="2703779" cy="1520876"/>
          </a:xfrm>
          <a:prstGeom prst="rect">
            <a:avLst/>
          </a:prstGeom>
        </p:spPr>
      </p:pic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443AF80-0FD7-0CDB-61B7-0605FC48DF85}"/>
              </a:ext>
            </a:extLst>
          </p:cNvPr>
          <p:cNvSpPr/>
          <p:nvPr/>
        </p:nvSpPr>
        <p:spPr>
          <a:xfrm>
            <a:off x="9506955" y="6151872"/>
            <a:ext cx="2703779" cy="6980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ja-JP" altLang="en-US" dirty="0">
                <a:solidFill>
                  <a:sysClr val="windowText" lastClr="000000"/>
                </a:solidFill>
              </a:rPr>
              <a:t>広大なマップ</a:t>
            </a:r>
            <a:endParaRPr kumimoji="1" lang="ja-JP" altLang="en-US" dirty="0">
              <a:solidFill>
                <a:sysClr val="windowText" lastClr="000000"/>
              </a:solidFill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71220AE4-803E-3346-45F9-BDF2F773E605}"/>
              </a:ext>
            </a:extLst>
          </p:cNvPr>
          <p:cNvSpPr txBox="1"/>
          <p:nvPr/>
        </p:nvSpPr>
        <p:spPr>
          <a:xfrm>
            <a:off x="9124335" y="226142"/>
            <a:ext cx="270377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highlight>
                  <a:srgbClr val="00FF00"/>
                </a:highlight>
              </a:rPr>
              <a:t>ボリューム情報</a:t>
            </a:r>
          </a:p>
        </p:txBody>
      </p:sp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A0C35DDA-127F-E64C-46D8-2880D8A95417}"/>
              </a:ext>
            </a:extLst>
          </p:cNvPr>
          <p:cNvSpPr txBox="1"/>
          <p:nvPr/>
        </p:nvSpPr>
        <p:spPr>
          <a:xfrm>
            <a:off x="1262849" y="6282813"/>
            <a:ext cx="59878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>
                <a:highlight>
                  <a:srgbClr val="00FFFF"/>
                </a:highlight>
              </a:rPr>
              <a:t>ゲームサイクル</a:t>
            </a:r>
          </a:p>
        </p:txBody>
      </p:sp>
      <p:sp>
        <p:nvSpPr>
          <p:cNvPr id="3" name="矢印: 右 2">
            <a:extLst>
              <a:ext uri="{FF2B5EF4-FFF2-40B4-BE49-F238E27FC236}">
                <a16:creationId xmlns:a16="http://schemas.microsoft.com/office/drawing/2014/main" id="{0D1B86DA-7BDE-7507-ECC9-94B447323B1B}"/>
              </a:ext>
            </a:extLst>
          </p:cNvPr>
          <p:cNvSpPr/>
          <p:nvPr/>
        </p:nvSpPr>
        <p:spPr>
          <a:xfrm>
            <a:off x="3500284" y="961768"/>
            <a:ext cx="973393" cy="709716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矢印: 右 4">
            <a:extLst>
              <a:ext uri="{FF2B5EF4-FFF2-40B4-BE49-F238E27FC236}">
                <a16:creationId xmlns:a16="http://schemas.microsoft.com/office/drawing/2014/main" id="{D9754D16-7853-3A9C-A4DD-52B9598119F0}"/>
              </a:ext>
            </a:extLst>
          </p:cNvPr>
          <p:cNvSpPr/>
          <p:nvPr/>
        </p:nvSpPr>
        <p:spPr>
          <a:xfrm rot="10800000">
            <a:off x="3567354" y="4315468"/>
            <a:ext cx="973393" cy="709716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矢印: 右 6">
            <a:extLst>
              <a:ext uri="{FF2B5EF4-FFF2-40B4-BE49-F238E27FC236}">
                <a16:creationId xmlns:a16="http://schemas.microsoft.com/office/drawing/2014/main" id="{473C93AA-016A-7588-E9A5-C4B0B50DA6A0}"/>
              </a:ext>
            </a:extLst>
          </p:cNvPr>
          <p:cNvSpPr/>
          <p:nvPr/>
        </p:nvSpPr>
        <p:spPr>
          <a:xfrm rot="5400000">
            <a:off x="6274674" y="2694771"/>
            <a:ext cx="442782" cy="709716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 7">
            <a:extLst>
              <a:ext uri="{FF2B5EF4-FFF2-40B4-BE49-F238E27FC236}">
                <a16:creationId xmlns:a16="http://schemas.microsoft.com/office/drawing/2014/main" id="{22FF41DC-4DAD-C78F-317D-5C4DA75D794C}"/>
              </a:ext>
            </a:extLst>
          </p:cNvPr>
          <p:cNvSpPr/>
          <p:nvPr/>
        </p:nvSpPr>
        <p:spPr>
          <a:xfrm rot="16200000">
            <a:off x="1452276" y="2694771"/>
            <a:ext cx="442782" cy="709716"/>
          </a:xfrm>
          <a:prstGeom prst="right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38827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2096</TotalTime>
  <Words>228</Words>
  <Application>Microsoft Office PowerPoint</Application>
  <PresentationFormat>ワイド画面</PresentationFormat>
  <Paragraphs>32</Paragraphs>
  <Slides>4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THAT12D09345 安田晴人</dc:creator>
  <cp:lastModifiedBy>THAT12D09345 安田晴人</cp:lastModifiedBy>
  <cp:revision>11</cp:revision>
  <dcterms:created xsi:type="dcterms:W3CDTF">2024-06-18T04:08:05Z</dcterms:created>
  <dcterms:modified xsi:type="dcterms:W3CDTF">2024-06-25T05:12:31Z</dcterms:modified>
</cp:coreProperties>
</file>