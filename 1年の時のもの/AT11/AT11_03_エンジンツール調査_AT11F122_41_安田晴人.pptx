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60" r:id="rId4"/>
    <p:sldId id="258" r:id="rId5"/>
    <p:sldId id="259"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9B3FFA-EE5D-4179-93DE-63FD73D0391A}" v="19" dt="2023-07-06T06:14:35.2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1021" autoAdjust="0"/>
  </p:normalViewPr>
  <p:slideViewPr>
    <p:cSldViewPr snapToGrid="0">
      <p:cViewPr varScale="1">
        <p:scale>
          <a:sx n="66" d="100"/>
          <a:sy n="66" d="100"/>
        </p:scale>
        <p:origin x="13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233F49-7CF4-441A-9548-1B8B471FB06F}" type="datetimeFigureOut">
              <a:rPr kumimoji="1" lang="ja-JP" altLang="en-US" smtClean="0"/>
              <a:t>2023/7/7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4E4312-756C-4FE9-948B-89AFC7AB4383}" type="slidenum">
              <a:rPr kumimoji="1" lang="ja-JP" altLang="en-US" smtClean="0"/>
              <a:t>‹#›</a:t>
            </a:fld>
            <a:endParaRPr kumimoji="1" lang="ja-JP" altLang="en-US"/>
          </a:p>
        </p:txBody>
      </p:sp>
    </p:spTree>
    <p:extLst>
      <p:ext uri="{BB962C8B-B14F-4D97-AF65-F5344CB8AC3E}">
        <p14:creationId xmlns:p14="http://schemas.microsoft.com/office/powerpoint/2010/main" val="128647785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今回私がエンジンツール調査として選んだゲームはこちら原神です。</a:t>
            </a:r>
            <a:endParaRPr kumimoji="1" lang="en-US" altLang="ja-JP" dirty="0"/>
          </a:p>
          <a:p>
            <a:r>
              <a:rPr kumimoji="1" lang="ja-JP" altLang="en-US" dirty="0"/>
              <a:t>原神は</a:t>
            </a:r>
            <a:r>
              <a:rPr kumimoji="1" lang="en-US" altLang="ja-JP" dirty="0"/>
              <a:t>2020</a:t>
            </a:r>
            <a:r>
              <a:rPr kumimoji="1" lang="ja-JP" altLang="en-US" dirty="0"/>
              <a:t>年</a:t>
            </a:r>
            <a:r>
              <a:rPr kumimoji="1" lang="en-US" altLang="ja-JP" dirty="0"/>
              <a:t>9</a:t>
            </a:r>
            <a:r>
              <a:rPr kumimoji="1" lang="ja-JP" altLang="en-US" dirty="0"/>
              <a:t>月に</a:t>
            </a:r>
            <a:r>
              <a:rPr kumimoji="1" lang="en-US" altLang="ja-JP" dirty="0" err="1"/>
              <a:t>miHoYo</a:t>
            </a:r>
            <a:r>
              <a:rPr kumimoji="1" lang="ja-JP" altLang="en-US" dirty="0"/>
              <a:t>から開発されたオープンワールド型</a:t>
            </a:r>
            <a:r>
              <a:rPr kumimoji="1" lang="en-US" altLang="ja-JP" dirty="0"/>
              <a:t>RPG</a:t>
            </a:r>
            <a:r>
              <a:rPr kumimoji="1" lang="ja-JP" altLang="en-US" dirty="0"/>
              <a:t>です。</a:t>
            </a:r>
            <a:endParaRPr kumimoji="1" lang="en-US" altLang="ja-JP" dirty="0"/>
          </a:p>
          <a:p>
            <a:r>
              <a:rPr kumimoji="1" lang="ja-JP" altLang="en-US" dirty="0"/>
              <a:t>ハードは</a:t>
            </a:r>
            <a:r>
              <a:rPr kumimoji="1" lang="en-US" altLang="ja-JP" dirty="0" err="1"/>
              <a:t>Andoroid</a:t>
            </a:r>
            <a:r>
              <a:rPr kumimoji="1" lang="ja-JP" altLang="en-US" dirty="0"/>
              <a:t>、</a:t>
            </a:r>
            <a:r>
              <a:rPr kumimoji="1" lang="en-US" altLang="ja-JP" dirty="0"/>
              <a:t>iOS</a:t>
            </a:r>
            <a:r>
              <a:rPr kumimoji="1" lang="ja-JP" altLang="en-US" dirty="0"/>
              <a:t>、</a:t>
            </a:r>
            <a:r>
              <a:rPr kumimoji="1" lang="en-US" altLang="ja-JP" dirty="0"/>
              <a:t>Windows</a:t>
            </a:r>
            <a:r>
              <a:rPr kumimoji="1" lang="ja-JP" altLang="en-US" dirty="0"/>
              <a:t>、</a:t>
            </a:r>
            <a:r>
              <a:rPr kumimoji="1" lang="en-US" altLang="ja-JP" dirty="0"/>
              <a:t>PS4,5</a:t>
            </a:r>
            <a:r>
              <a:rPr kumimoji="1" lang="ja-JP" altLang="en-US" dirty="0"/>
              <a:t>、で配信されており、いずれはスイッチでも配信される予定だそうです。</a:t>
            </a:r>
            <a:endParaRPr kumimoji="1" lang="en-US" altLang="ja-JP" dirty="0"/>
          </a:p>
          <a:p>
            <a:r>
              <a:rPr kumimoji="1" lang="ja-JP" altLang="en-US" dirty="0"/>
              <a:t>スライドに移ってる画像は</a:t>
            </a:r>
            <a:r>
              <a:rPr kumimoji="1" lang="en-US" altLang="ja-JP" dirty="0"/>
              <a:t>Windows</a:t>
            </a:r>
            <a:r>
              <a:rPr kumimoji="1" lang="ja-JP" altLang="en-US" dirty="0"/>
              <a:t>版の画面となっております。</a:t>
            </a:r>
            <a:endParaRPr kumimoji="1" lang="en-US" altLang="ja-JP" dirty="0"/>
          </a:p>
          <a:p>
            <a:r>
              <a:rPr kumimoji="1" lang="ja-JP" altLang="en-US" dirty="0"/>
              <a:t>爆発のエフェクトや草のグラフィック、草が燃えている様子がすべてきれいに表現されています。</a:t>
            </a:r>
            <a:endParaRPr kumimoji="1" lang="en-US" altLang="ja-JP" dirty="0"/>
          </a:p>
          <a:p>
            <a:r>
              <a:rPr kumimoji="1" lang="ja-JP" altLang="en-US" dirty="0"/>
              <a:t>他のハードでも劣ることなくグラフィックがとてもきれいという声がユーザーの間でも多いです。</a:t>
            </a:r>
            <a:endParaRPr kumimoji="1" lang="en-US" altLang="ja-JP" dirty="0"/>
          </a:p>
          <a:p>
            <a:r>
              <a:rPr kumimoji="1" lang="ja-JP" altLang="en-US" dirty="0"/>
              <a:t>そんなグラフィックのすごい原神のゲームエンジンはこちらです。</a:t>
            </a:r>
          </a:p>
        </p:txBody>
      </p:sp>
      <p:sp>
        <p:nvSpPr>
          <p:cNvPr id="4" name="スライド番号プレースホルダー 3"/>
          <p:cNvSpPr>
            <a:spLocks noGrp="1"/>
          </p:cNvSpPr>
          <p:nvPr>
            <p:ph type="sldNum" sz="quarter" idx="5"/>
          </p:nvPr>
        </p:nvSpPr>
        <p:spPr/>
        <p:txBody>
          <a:bodyPr/>
          <a:lstStyle/>
          <a:p>
            <a:fld id="{304E4312-756C-4FE9-948B-89AFC7AB4383}" type="slidenum">
              <a:rPr kumimoji="1" lang="ja-JP" altLang="en-US" smtClean="0"/>
              <a:t>2</a:t>
            </a:fld>
            <a:endParaRPr kumimoji="1" lang="ja-JP" altLang="en-US"/>
          </a:p>
        </p:txBody>
      </p:sp>
    </p:spTree>
    <p:extLst>
      <p:ext uri="{BB962C8B-B14F-4D97-AF65-F5344CB8AC3E}">
        <p14:creationId xmlns:p14="http://schemas.microsoft.com/office/powerpoint/2010/main" val="3964449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なんと原神のエンジンツールは</a:t>
            </a:r>
            <a:r>
              <a:rPr kumimoji="1" lang="en-US" altLang="ja-JP" dirty="0"/>
              <a:t>AL</a:t>
            </a:r>
            <a:r>
              <a:rPr kumimoji="1" lang="ja-JP" altLang="en-US" dirty="0"/>
              <a:t>の授業でも使っている</a:t>
            </a:r>
            <a:r>
              <a:rPr kumimoji="1" lang="en-US" altLang="ja-JP" dirty="0"/>
              <a:t>Unity</a:t>
            </a:r>
            <a:r>
              <a:rPr kumimoji="1" lang="ja-JP" altLang="en-US" dirty="0"/>
              <a:t>なんです！</a:t>
            </a:r>
            <a:endParaRPr kumimoji="1" lang="en-US" altLang="ja-JP" dirty="0"/>
          </a:p>
          <a:p>
            <a:r>
              <a:rPr kumimoji="1" lang="en-US" altLang="ja-JP" dirty="0"/>
              <a:t>Unity</a:t>
            </a:r>
            <a:r>
              <a:rPr kumimoji="1" lang="ja-JP" altLang="en-US" dirty="0"/>
              <a:t>を学んでいけば原神のようにすごいゲームを作れる可能性があるかもしれないってことですね。</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304E4312-756C-4FE9-948B-89AFC7AB4383}" type="slidenum">
              <a:rPr kumimoji="1" lang="ja-JP" altLang="en-US" smtClean="0"/>
              <a:t>3</a:t>
            </a:fld>
            <a:endParaRPr kumimoji="1" lang="ja-JP" altLang="en-US"/>
          </a:p>
        </p:txBody>
      </p:sp>
    </p:spTree>
    <p:extLst>
      <p:ext uri="{BB962C8B-B14F-4D97-AF65-F5344CB8AC3E}">
        <p14:creationId xmlns:p14="http://schemas.microsoft.com/office/powerpoint/2010/main" val="2277493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Unity</a:t>
            </a:r>
            <a:r>
              <a:rPr kumimoji="1" lang="ja-JP" altLang="en-US" dirty="0"/>
              <a:t>の特徴として様々な端末に対応したゲームを開発できる。</a:t>
            </a:r>
            <a:endParaRPr kumimoji="1" lang="en-US" altLang="ja-JP" dirty="0"/>
          </a:p>
          <a:p>
            <a:r>
              <a:rPr kumimoji="1" lang="ja-JP" altLang="en-US" dirty="0"/>
              <a:t>原神のように複数のハードでプレイできるようなゲームを作るとき、</a:t>
            </a:r>
            <a:r>
              <a:rPr kumimoji="1" lang="en-US" altLang="ja-JP" dirty="0"/>
              <a:t>Unity</a:t>
            </a:r>
            <a:r>
              <a:rPr kumimoji="1" lang="ja-JP" altLang="en-US" dirty="0"/>
              <a:t>は打ってつけということですね。</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304E4312-756C-4FE9-948B-89AFC7AB4383}" type="slidenum">
              <a:rPr kumimoji="1" lang="ja-JP" altLang="en-US" smtClean="0"/>
              <a:t>4</a:t>
            </a:fld>
            <a:endParaRPr kumimoji="1" lang="ja-JP" altLang="en-US"/>
          </a:p>
        </p:txBody>
      </p:sp>
    </p:spTree>
    <p:extLst>
      <p:ext uri="{BB962C8B-B14F-4D97-AF65-F5344CB8AC3E}">
        <p14:creationId xmlns:p14="http://schemas.microsoft.com/office/powerpoint/2010/main" val="3878632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他にも</a:t>
            </a:r>
            <a:r>
              <a:rPr kumimoji="1" lang="en-US" altLang="ja-JP" dirty="0"/>
              <a:t>Unity</a:t>
            </a:r>
            <a:r>
              <a:rPr kumimoji="1" lang="ja-JP" altLang="en-US" dirty="0"/>
              <a:t>内にアセットストアという他のユーザーが作ったキャラクターや、ステージなどを買ったりして使うことができます。</a:t>
            </a:r>
            <a:endParaRPr kumimoji="1" lang="en-US" altLang="ja-JP" dirty="0"/>
          </a:p>
          <a:p>
            <a:r>
              <a:rPr kumimoji="1" lang="ja-JP" altLang="en-US" dirty="0"/>
              <a:t>これによって一からキャラもステージの障害物や背景など自分で作らなくてもある程度ゲームが作れます。</a:t>
            </a:r>
            <a:endParaRPr kumimoji="1" lang="en-US" altLang="ja-JP" dirty="0"/>
          </a:p>
        </p:txBody>
      </p:sp>
      <p:sp>
        <p:nvSpPr>
          <p:cNvPr id="4" name="スライド番号プレースホルダー 3"/>
          <p:cNvSpPr>
            <a:spLocks noGrp="1"/>
          </p:cNvSpPr>
          <p:nvPr>
            <p:ph type="sldNum" sz="quarter" idx="5"/>
          </p:nvPr>
        </p:nvSpPr>
        <p:spPr/>
        <p:txBody>
          <a:bodyPr/>
          <a:lstStyle/>
          <a:p>
            <a:fld id="{304E4312-756C-4FE9-948B-89AFC7AB4383}" type="slidenum">
              <a:rPr kumimoji="1" lang="ja-JP" altLang="en-US" smtClean="0"/>
              <a:t>5</a:t>
            </a:fld>
            <a:endParaRPr kumimoji="1" lang="ja-JP" altLang="en-US"/>
          </a:p>
        </p:txBody>
      </p:sp>
    </p:spTree>
    <p:extLst>
      <p:ext uri="{BB962C8B-B14F-4D97-AF65-F5344CB8AC3E}">
        <p14:creationId xmlns:p14="http://schemas.microsoft.com/office/powerpoint/2010/main" val="1064770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また、</a:t>
            </a:r>
            <a:r>
              <a:rPr kumimoji="1" lang="en-US" altLang="ja-JP" dirty="0"/>
              <a:t>Unity</a:t>
            </a:r>
            <a:r>
              <a:rPr kumimoji="1" lang="ja-JP" altLang="en-US" dirty="0"/>
              <a:t>ではあらかじめある程度キャラクターを動かせるようにプログラムされておりプログラミング初心者でも気軽に手を出せます。</a:t>
            </a:r>
            <a:endParaRPr kumimoji="1" lang="en-US" altLang="ja-JP" dirty="0"/>
          </a:p>
          <a:p>
            <a:r>
              <a:rPr kumimoji="1" lang="ja-JP" altLang="en-US" dirty="0"/>
              <a:t>しかし、細部までこだわろうとするとある程度のプログラミング知識が必要となります。</a:t>
            </a:r>
          </a:p>
        </p:txBody>
      </p:sp>
      <p:sp>
        <p:nvSpPr>
          <p:cNvPr id="4" name="スライド番号プレースホルダー 3"/>
          <p:cNvSpPr>
            <a:spLocks noGrp="1"/>
          </p:cNvSpPr>
          <p:nvPr>
            <p:ph type="sldNum" sz="quarter" idx="5"/>
          </p:nvPr>
        </p:nvSpPr>
        <p:spPr/>
        <p:txBody>
          <a:bodyPr/>
          <a:lstStyle/>
          <a:p>
            <a:fld id="{304E4312-756C-4FE9-948B-89AFC7AB4383}" type="slidenum">
              <a:rPr kumimoji="1" lang="ja-JP" altLang="en-US" smtClean="0"/>
              <a:t>6</a:t>
            </a:fld>
            <a:endParaRPr kumimoji="1" lang="ja-JP" altLang="en-US"/>
          </a:p>
        </p:txBody>
      </p:sp>
    </p:spTree>
    <p:extLst>
      <p:ext uri="{BB962C8B-B14F-4D97-AF65-F5344CB8AC3E}">
        <p14:creationId xmlns:p14="http://schemas.microsoft.com/office/powerpoint/2010/main" val="3616855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4E7A1-76CD-7BC5-5C46-4857559CD0A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6FD41F6-7B3F-3523-395C-F787FB6B9F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A76E7FE-46F8-5478-D1F6-1B24BEA8ABA9}"/>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5" name="フッター プレースホルダー 4">
            <a:extLst>
              <a:ext uri="{FF2B5EF4-FFF2-40B4-BE49-F238E27FC236}">
                <a16:creationId xmlns:a16="http://schemas.microsoft.com/office/drawing/2014/main" id="{A75E2D1B-3F35-950F-D0CC-7FABAFCCCD0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B4074F7-5773-CF6C-8ABC-80851B749AE3}"/>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1131168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504B3-13F9-8148-8E3D-396D2A0E58E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FA31B8A-176A-39B4-37FC-2C93EEBCE93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16390E4-D130-F5B2-F49B-43443312B3EE}"/>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5" name="フッター プレースホルダー 4">
            <a:extLst>
              <a:ext uri="{FF2B5EF4-FFF2-40B4-BE49-F238E27FC236}">
                <a16:creationId xmlns:a16="http://schemas.microsoft.com/office/drawing/2014/main" id="{55E1573E-90B4-74CB-B91E-D7235CEBE1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C6EF4DC-6FCD-9165-9AB0-11EBC9D39E55}"/>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1358078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A9068E-3863-25C0-4B4D-8047F985271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CD044E4-0A05-E515-4A8E-3034E07781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EB81FB2-27DE-620E-C5A7-85FB4FCAE621}"/>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5" name="フッター プレースホルダー 4">
            <a:extLst>
              <a:ext uri="{FF2B5EF4-FFF2-40B4-BE49-F238E27FC236}">
                <a16:creationId xmlns:a16="http://schemas.microsoft.com/office/drawing/2014/main" id="{4AC748E4-0336-78E8-D544-212B10FA301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58A8D5-ACA8-7E6C-AEA6-0B6B3FAA605E}"/>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344860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EBEDC2-7BEF-758E-0C3E-7603830036E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0AC7108-6B92-6529-C2CF-F5B58C43B08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CD1E300-1A21-49B1-B343-9FD57DFEE82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35E4208-D518-4066-D3A8-0B13CE7166A2}"/>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6" name="フッター プレースホルダー 5">
            <a:extLst>
              <a:ext uri="{FF2B5EF4-FFF2-40B4-BE49-F238E27FC236}">
                <a16:creationId xmlns:a16="http://schemas.microsoft.com/office/drawing/2014/main" id="{909CC9DE-F24E-03AD-8B18-CE7DE26BC57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6328EC8-A5B2-D3B6-540B-655A22984EC9}"/>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1980287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006719-D593-E3E5-7272-9268C306EB5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2046669-9842-9811-438D-70243FEA96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A090406-A821-BA4D-1927-096A6DF5E32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6BAC3C2-D0CA-5B09-EB0A-0E02BE1167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37FC0BA-29D2-94AA-2FE3-C0D7F135B3F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2842DEE-CF22-A11A-2880-158C4DA3BC10}"/>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8" name="フッター プレースホルダー 7">
            <a:extLst>
              <a:ext uri="{FF2B5EF4-FFF2-40B4-BE49-F238E27FC236}">
                <a16:creationId xmlns:a16="http://schemas.microsoft.com/office/drawing/2014/main" id="{FB86F833-079C-2042-5FC5-16582F7F534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4FA85C5-031A-D719-8D5F-2355E0255A7E}"/>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2488333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53C1DC-7DF2-0D0B-7D6D-31DDFC9294E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28179C7-44F9-A09D-5D21-4F94B586F563}"/>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4" name="フッター プレースホルダー 3">
            <a:extLst>
              <a:ext uri="{FF2B5EF4-FFF2-40B4-BE49-F238E27FC236}">
                <a16:creationId xmlns:a16="http://schemas.microsoft.com/office/drawing/2014/main" id="{7EF01A26-48C6-96DA-3868-3C1626F8312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CEDDD54-1554-8ECD-E8D7-F7E08BEE9360}"/>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870733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12F4BE3-D282-8C42-48FD-5FC4AAD958C1}"/>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3" name="フッター プレースホルダー 2">
            <a:extLst>
              <a:ext uri="{FF2B5EF4-FFF2-40B4-BE49-F238E27FC236}">
                <a16:creationId xmlns:a16="http://schemas.microsoft.com/office/drawing/2014/main" id="{EFCA1300-AEB7-F408-8D95-D56FC45AAAE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FD97230-45C6-6569-9082-EA44631D1A0C}"/>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483081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41F516-C5DE-7AF4-56F7-9E3BE893F0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0FCF83D-8011-F516-E5F5-0D0AE3A04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CCCA164-3B70-092F-44F2-644B973DDF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2FEF6CB-4442-E79C-CA1D-98B98C6C4694}"/>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6" name="フッター プレースホルダー 5">
            <a:extLst>
              <a:ext uri="{FF2B5EF4-FFF2-40B4-BE49-F238E27FC236}">
                <a16:creationId xmlns:a16="http://schemas.microsoft.com/office/drawing/2014/main" id="{A4D49E30-A8D6-3269-4267-1FD6D43837D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8002494-EFAA-5F41-B0AE-EDAA37F916E0}"/>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2106104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B8E19E-0FE1-5B12-5D35-C8B1730E0DA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FA22541-7D0F-C7D7-B915-4F8BFF7455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99D6EA1-0844-65C8-7117-46780AD744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E59CA4E-5536-FB71-952A-93AB58BFBA44}"/>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6" name="フッター プレースホルダー 5">
            <a:extLst>
              <a:ext uri="{FF2B5EF4-FFF2-40B4-BE49-F238E27FC236}">
                <a16:creationId xmlns:a16="http://schemas.microsoft.com/office/drawing/2014/main" id="{4B10B10D-AD3A-6D52-FFC3-7A366F76464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A4C0FE7-E688-A463-F9BF-009748DB8DD4}"/>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274415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FCAA50-A842-CD2F-D286-B6A52B9C2B0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804E95C-1312-D045-926D-0D668899AEE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D7A4048-9414-4F36-3F4A-840362BCEB24}"/>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5" name="フッター プレースホルダー 4">
            <a:extLst>
              <a:ext uri="{FF2B5EF4-FFF2-40B4-BE49-F238E27FC236}">
                <a16:creationId xmlns:a16="http://schemas.microsoft.com/office/drawing/2014/main" id="{5390BEAA-A123-2588-F506-13E525DE3EC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84F81E-7ED7-BFF3-037A-6A077E6081DD}"/>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2571051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8C32A83-D8D5-B286-32C6-8FE8ECA19D2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A5F02D0-B793-FF00-6F41-DB891D14099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450CE8E-AECA-7735-E742-197F33BD3ABA}"/>
              </a:ext>
            </a:extLst>
          </p:cNvPr>
          <p:cNvSpPr>
            <a:spLocks noGrp="1"/>
          </p:cNvSpPr>
          <p:nvPr>
            <p:ph type="dt" sz="half" idx="10"/>
          </p:nvPr>
        </p:nvSpPr>
        <p:spPr/>
        <p:txBody>
          <a:bodyPr/>
          <a:lstStyle/>
          <a:p>
            <a:fld id="{25DFB7CE-C14D-468E-BF90-694F6C58819D}" type="datetimeFigureOut">
              <a:rPr kumimoji="1" lang="ja-JP" altLang="en-US" smtClean="0"/>
              <a:t>2023/7/7</a:t>
            </a:fld>
            <a:endParaRPr kumimoji="1" lang="ja-JP" altLang="en-US"/>
          </a:p>
        </p:txBody>
      </p:sp>
      <p:sp>
        <p:nvSpPr>
          <p:cNvPr id="5" name="フッター プレースホルダー 4">
            <a:extLst>
              <a:ext uri="{FF2B5EF4-FFF2-40B4-BE49-F238E27FC236}">
                <a16:creationId xmlns:a16="http://schemas.microsoft.com/office/drawing/2014/main" id="{93F0F53C-9C12-3394-75FB-D8D2D284FE0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066555-A06F-CB36-E75C-8179A8181287}"/>
              </a:ext>
            </a:extLst>
          </p:cNvPr>
          <p:cNvSpPr>
            <a:spLocks noGrp="1"/>
          </p:cNvSpPr>
          <p:nvPr>
            <p:ph type="sldNum" sz="quarter" idx="12"/>
          </p:nvPr>
        </p:nvSpPr>
        <p:spPr/>
        <p:txBody>
          <a:body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4266701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4E63302-AEEA-9E58-7AA7-D4D8C2322E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8E3CA13-6CFC-2891-F1EA-B4D25DCE77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8D2D7E2-918C-0881-E45D-D970D9DC6C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FB7CE-C14D-468E-BF90-694F6C58819D}" type="datetimeFigureOut">
              <a:rPr kumimoji="1" lang="ja-JP" altLang="en-US" smtClean="0"/>
              <a:t>2023/7/7</a:t>
            </a:fld>
            <a:endParaRPr kumimoji="1" lang="ja-JP" altLang="en-US"/>
          </a:p>
        </p:txBody>
      </p:sp>
      <p:sp>
        <p:nvSpPr>
          <p:cNvPr id="5" name="フッター プレースホルダー 4">
            <a:extLst>
              <a:ext uri="{FF2B5EF4-FFF2-40B4-BE49-F238E27FC236}">
                <a16:creationId xmlns:a16="http://schemas.microsoft.com/office/drawing/2014/main" id="{70B4E4C7-8800-026B-F0F3-FD5F24223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6ED599D-38B5-8C3E-89CC-6491FC5FC6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F23F0A-D292-4165-A490-3988AAF36023}" type="slidenum">
              <a:rPr kumimoji="1" lang="ja-JP" altLang="en-US" smtClean="0"/>
              <a:t>‹#›</a:t>
            </a:fld>
            <a:endParaRPr kumimoji="1" lang="ja-JP" altLang="en-US"/>
          </a:p>
        </p:txBody>
      </p:sp>
    </p:spTree>
    <p:extLst>
      <p:ext uri="{BB962C8B-B14F-4D97-AF65-F5344CB8AC3E}">
        <p14:creationId xmlns:p14="http://schemas.microsoft.com/office/powerpoint/2010/main" val="4104882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fif"/></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fif"/><Relationship Id="rId7" Type="http://schemas.openxmlformats.org/officeDocument/2006/relationships/image" Target="../media/image9.jfi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jfif"/><Relationship Id="rId4" Type="http://schemas.openxmlformats.org/officeDocument/2006/relationships/image" Target="../media/image6.jfif"/></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jfi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62B6C66-3347-9402-37D4-96F05A6F10C9}"/>
              </a:ext>
            </a:extLst>
          </p:cNvPr>
          <p:cNvPicPr>
            <a:picLocks noChangeAspect="1"/>
          </p:cNvPicPr>
          <p:nvPr/>
        </p:nvPicPr>
        <p:blipFill rotWithShape="1">
          <a:blip r:embed="rId2"/>
          <a:srcRect t="15110" b="12543"/>
          <a:stretch/>
        </p:blipFill>
        <p:spPr>
          <a:xfrm>
            <a:off x="20" y="10"/>
            <a:ext cx="12191981" cy="6857990"/>
          </a:xfrm>
          <a:prstGeom prst="rect">
            <a:avLst/>
          </a:prstGeom>
        </p:spPr>
      </p:pic>
      <p:sp>
        <p:nvSpPr>
          <p:cNvPr id="11" name="Rectangle 1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492E8495-FA20-A444-0B58-B42A5F0D5642}"/>
              </a:ext>
            </a:extLst>
          </p:cNvPr>
          <p:cNvSpPr>
            <a:spLocks noGrp="1"/>
          </p:cNvSpPr>
          <p:nvPr>
            <p:ph type="ctrTitle"/>
          </p:nvPr>
        </p:nvSpPr>
        <p:spPr>
          <a:xfrm>
            <a:off x="404553" y="3091928"/>
            <a:ext cx="9078562" cy="2387600"/>
          </a:xfrm>
        </p:spPr>
        <p:txBody>
          <a:bodyPr>
            <a:normAutofit/>
          </a:bodyPr>
          <a:lstStyle/>
          <a:p>
            <a:pPr algn="l"/>
            <a:r>
              <a:rPr kumimoji="1" lang="ja-JP" altLang="en-US" sz="6600">
                <a:solidFill>
                  <a:schemeClr val="bg1"/>
                </a:solidFill>
              </a:rPr>
              <a:t>エンジン／ツール調査</a:t>
            </a:r>
          </a:p>
        </p:txBody>
      </p:sp>
      <p:sp>
        <p:nvSpPr>
          <p:cNvPr id="13" name="Rectangle: Rounded Corners 1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字幕 2">
            <a:extLst>
              <a:ext uri="{FF2B5EF4-FFF2-40B4-BE49-F238E27FC236}">
                <a16:creationId xmlns:a16="http://schemas.microsoft.com/office/drawing/2014/main" id="{614B3397-A26F-DB0A-B797-EB1378279922}"/>
              </a:ext>
            </a:extLst>
          </p:cNvPr>
          <p:cNvSpPr>
            <a:spLocks noGrp="1"/>
          </p:cNvSpPr>
          <p:nvPr>
            <p:ph type="subTitle" idx="1"/>
          </p:nvPr>
        </p:nvSpPr>
        <p:spPr>
          <a:xfrm>
            <a:off x="404553" y="5624945"/>
            <a:ext cx="9078562" cy="592975"/>
          </a:xfrm>
        </p:spPr>
        <p:txBody>
          <a:bodyPr anchor="ctr">
            <a:normAutofit/>
          </a:bodyPr>
          <a:lstStyle/>
          <a:p>
            <a:pPr algn="l"/>
            <a:r>
              <a:rPr kumimoji="1" lang="en-US" altLang="ja-JP">
                <a:solidFill>
                  <a:schemeClr val="bg1"/>
                </a:solidFill>
              </a:rPr>
              <a:t>AT11F122</a:t>
            </a:r>
            <a:r>
              <a:rPr kumimoji="1" lang="ja-JP" altLang="en-US">
                <a:solidFill>
                  <a:schemeClr val="bg1"/>
                </a:solidFill>
              </a:rPr>
              <a:t>　安田晴人</a:t>
            </a:r>
          </a:p>
        </p:txBody>
      </p:sp>
    </p:spTree>
    <p:extLst>
      <p:ext uri="{BB962C8B-B14F-4D97-AF65-F5344CB8AC3E}">
        <p14:creationId xmlns:p14="http://schemas.microsoft.com/office/powerpoint/2010/main" val="3961419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FCDD23B-75C8-427B-BD08-53C8156CD7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図 8" descr="草, 光, 夕日, 明るい が含まれている画像&#10;&#10;自動的に生成された説明">
            <a:extLst>
              <a:ext uri="{FF2B5EF4-FFF2-40B4-BE49-F238E27FC236}">
                <a16:creationId xmlns:a16="http://schemas.microsoft.com/office/drawing/2014/main" id="{5120D586-693F-F379-48D0-159438EBEE93}"/>
              </a:ext>
            </a:extLst>
          </p:cNvPr>
          <p:cNvPicPr>
            <a:picLocks noChangeAspect="1"/>
          </p:cNvPicPr>
          <p:nvPr/>
        </p:nvPicPr>
        <p:blipFill rotWithShape="1">
          <a:blip r:embed="rId3">
            <a:extLst>
              <a:ext uri="{28A0092B-C50C-407E-A947-70E740481C1C}">
                <a14:useLocalDpi xmlns:a14="http://schemas.microsoft.com/office/drawing/2010/main" val="0"/>
              </a:ext>
            </a:extLst>
          </a:blip>
          <a:srcRect l="12318" r="1264" b="-2"/>
          <a:stretch/>
        </p:blipFill>
        <p:spPr>
          <a:xfrm>
            <a:off x="-1" y="190"/>
            <a:ext cx="8128855" cy="5291194"/>
          </a:xfrm>
          <a:prstGeom prst="rect">
            <a:avLst/>
          </a:prstGeom>
        </p:spPr>
      </p:pic>
      <p:sp>
        <p:nvSpPr>
          <p:cNvPr id="23" name="Rectangle 22">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64" y="5282206"/>
            <a:ext cx="12192264" cy="1163844"/>
          </a:xfrm>
          <a:prstGeom prst="rect">
            <a:avLst/>
          </a:prstGeom>
          <a:gradFill>
            <a:gsLst>
              <a:gs pos="28000">
                <a:schemeClr val="accent1">
                  <a:lumMod val="75000"/>
                  <a:alpha val="11000"/>
                </a:schemeClr>
              </a:gs>
              <a:gs pos="100000">
                <a:srgbClr val="000000">
                  <a:alpha val="77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5282206"/>
            <a:ext cx="12191998" cy="1586485"/>
          </a:xfrm>
          <a:prstGeom prst="rect">
            <a:avLst/>
          </a:prstGeom>
          <a:gradFill>
            <a:gsLst>
              <a:gs pos="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5806667-3906-81B1-810B-7E7E3A0B4035}"/>
              </a:ext>
            </a:extLst>
          </p:cNvPr>
          <p:cNvSpPr>
            <a:spLocks noGrp="1"/>
          </p:cNvSpPr>
          <p:nvPr>
            <p:ph type="title"/>
          </p:nvPr>
        </p:nvSpPr>
        <p:spPr>
          <a:xfrm>
            <a:off x="699715" y="5635366"/>
            <a:ext cx="7091299" cy="898581"/>
          </a:xfrm>
        </p:spPr>
        <p:txBody>
          <a:bodyPr vert="horz" lIns="91440" tIns="45720" rIns="91440" bIns="45720" rtlCol="0" anchor="ctr">
            <a:normAutofit/>
          </a:bodyPr>
          <a:lstStyle/>
          <a:p>
            <a:r>
              <a:rPr kumimoji="1" lang="ja-JP" altLang="en-US" sz="4000" kern="1200">
                <a:solidFill>
                  <a:srgbClr val="FFFFFF"/>
                </a:solidFill>
                <a:latin typeface="+mj-lt"/>
                <a:ea typeface="+mj-ea"/>
                <a:cs typeface="+mj-cs"/>
              </a:rPr>
              <a:t>原神</a:t>
            </a:r>
          </a:p>
        </p:txBody>
      </p:sp>
      <p:sp>
        <p:nvSpPr>
          <p:cNvPr id="27" name="Rectangle 26">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5282206"/>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985DB07D-E797-2135-B6DA-1BE12F4EB8FA}"/>
              </a:ext>
            </a:extLst>
          </p:cNvPr>
          <p:cNvSpPr>
            <a:spLocks noGrp="1"/>
          </p:cNvSpPr>
          <p:nvPr>
            <p:ph idx="1"/>
          </p:nvPr>
        </p:nvSpPr>
        <p:spPr>
          <a:xfrm>
            <a:off x="8571507" y="5669430"/>
            <a:ext cx="3291839" cy="830453"/>
          </a:xfrm>
        </p:spPr>
        <p:txBody>
          <a:bodyPr vert="horz" lIns="91440" tIns="45720" rIns="91440" bIns="45720" rtlCol="0" anchor="ctr">
            <a:normAutofit/>
          </a:bodyPr>
          <a:lstStyle/>
          <a:p>
            <a:pPr marL="0" indent="0">
              <a:buNone/>
            </a:pPr>
            <a:r>
              <a:rPr kumimoji="1" lang="ja-JP" altLang="en-US" sz="1700" kern="1200">
                <a:solidFill>
                  <a:srgbClr val="FFFFFF"/>
                </a:solidFill>
                <a:latin typeface="+mn-lt"/>
                <a:ea typeface="+mn-ea"/>
                <a:cs typeface="+mn-cs"/>
              </a:rPr>
              <a:t>ハード：</a:t>
            </a:r>
            <a:r>
              <a:rPr lang="en-US" altLang="ja-JP" sz="1700" kern="1200">
                <a:solidFill>
                  <a:srgbClr val="FFFFFF"/>
                </a:solidFill>
                <a:latin typeface="+mn-lt"/>
                <a:ea typeface="+mn-ea"/>
                <a:cs typeface="+mn-cs"/>
              </a:rPr>
              <a:t>Android</a:t>
            </a:r>
            <a:r>
              <a:rPr kumimoji="1" lang="ja-JP" altLang="en-US" sz="1700" kern="1200">
                <a:solidFill>
                  <a:srgbClr val="FFFFFF"/>
                </a:solidFill>
                <a:latin typeface="+mn-lt"/>
                <a:ea typeface="+mn-ea"/>
                <a:cs typeface="+mn-cs"/>
              </a:rPr>
              <a:t>、</a:t>
            </a:r>
            <a:r>
              <a:rPr kumimoji="1" lang="en-US" altLang="ja-JP" sz="1700" kern="1200">
                <a:solidFill>
                  <a:srgbClr val="FFFFFF"/>
                </a:solidFill>
                <a:latin typeface="+mn-lt"/>
                <a:ea typeface="+mn-ea"/>
                <a:cs typeface="+mn-cs"/>
              </a:rPr>
              <a:t>iOS</a:t>
            </a:r>
            <a:r>
              <a:rPr kumimoji="1" lang="ja-JP" altLang="en-US" sz="1700" kern="1200">
                <a:solidFill>
                  <a:srgbClr val="FFFFFF"/>
                </a:solidFill>
                <a:latin typeface="+mn-lt"/>
                <a:ea typeface="+mn-ea"/>
                <a:cs typeface="+mn-cs"/>
              </a:rPr>
              <a:t>、</a:t>
            </a:r>
            <a:r>
              <a:rPr kumimoji="1" lang="en-US" altLang="ja-JP" sz="1700" kern="1200">
                <a:solidFill>
                  <a:srgbClr val="FFFFFF"/>
                </a:solidFill>
                <a:latin typeface="+mn-lt"/>
                <a:ea typeface="+mn-ea"/>
                <a:cs typeface="+mn-cs"/>
              </a:rPr>
              <a:t>Windows</a:t>
            </a:r>
            <a:r>
              <a:rPr kumimoji="1" lang="ja-JP" altLang="en-US" sz="1700" kern="1200">
                <a:solidFill>
                  <a:srgbClr val="FFFFFF"/>
                </a:solidFill>
                <a:latin typeface="+mn-lt"/>
                <a:ea typeface="+mn-ea"/>
                <a:cs typeface="+mn-cs"/>
              </a:rPr>
              <a:t>、</a:t>
            </a:r>
            <a:r>
              <a:rPr kumimoji="1" lang="en-US" altLang="ja-JP" sz="1700" kern="1200">
                <a:solidFill>
                  <a:srgbClr val="FFFFFF"/>
                </a:solidFill>
                <a:latin typeface="+mn-lt"/>
                <a:ea typeface="+mn-ea"/>
                <a:cs typeface="+mn-cs"/>
              </a:rPr>
              <a:t>PS4</a:t>
            </a:r>
            <a:r>
              <a:rPr kumimoji="1" lang="ja-JP" altLang="en-US" sz="1700" kern="1200">
                <a:solidFill>
                  <a:srgbClr val="FFFFFF"/>
                </a:solidFill>
                <a:latin typeface="+mn-lt"/>
                <a:ea typeface="+mn-ea"/>
                <a:cs typeface="+mn-cs"/>
              </a:rPr>
              <a:t>、</a:t>
            </a:r>
            <a:r>
              <a:rPr lang="en-US" altLang="ja-JP" sz="1700" kern="1200">
                <a:solidFill>
                  <a:srgbClr val="FFFFFF"/>
                </a:solidFill>
                <a:latin typeface="+mn-lt"/>
                <a:ea typeface="+mn-ea"/>
                <a:cs typeface="+mn-cs"/>
              </a:rPr>
              <a:t>PS5(</a:t>
            </a:r>
            <a:r>
              <a:rPr lang="ja-JP" altLang="en-US" sz="1700" kern="1200">
                <a:solidFill>
                  <a:srgbClr val="FFFFFF"/>
                </a:solidFill>
                <a:latin typeface="+mn-lt"/>
                <a:ea typeface="+mn-ea"/>
                <a:cs typeface="+mn-cs"/>
              </a:rPr>
              <a:t>いずれは</a:t>
            </a:r>
            <a:r>
              <a:rPr lang="en-US" altLang="ja-JP" sz="1700" kern="1200">
                <a:solidFill>
                  <a:srgbClr val="FFFFFF"/>
                </a:solidFill>
                <a:latin typeface="+mn-lt"/>
                <a:ea typeface="+mn-ea"/>
                <a:cs typeface="+mn-cs"/>
              </a:rPr>
              <a:t>Switch</a:t>
            </a:r>
            <a:r>
              <a:rPr lang="ja-JP" altLang="en-US" sz="1700" kern="1200">
                <a:solidFill>
                  <a:srgbClr val="FFFFFF"/>
                </a:solidFill>
                <a:latin typeface="+mn-lt"/>
                <a:ea typeface="+mn-ea"/>
                <a:cs typeface="+mn-cs"/>
              </a:rPr>
              <a:t>も？）</a:t>
            </a:r>
            <a:endParaRPr kumimoji="1" lang="en-US" altLang="ja-JP" sz="1700" kern="1200">
              <a:solidFill>
                <a:srgbClr val="FFFFFF"/>
              </a:solidFill>
              <a:latin typeface="+mn-lt"/>
              <a:ea typeface="+mn-ea"/>
              <a:cs typeface="+mn-cs"/>
            </a:endParaRPr>
          </a:p>
        </p:txBody>
      </p:sp>
      <p:pic>
        <p:nvPicPr>
          <p:cNvPr id="7" name="図 6" descr="ロゴ&#10;&#10;自動的に生成された説明">
            <a:extLst>
              <a:ext uri="{FF2B5EF4-FFF2-40B4-BE49-F238E27FC236}">
                <a16:creationId xmlns:a16="http://schemas.microsoft.com/office/drawing/2014/main" id="{27068F03-5101-1925-8AF0-0F821C78B8FB}"/>
              </a:ext>
            </a:extLst>
          </p:cNvPr>
          <p:cNvPicPr>
            <a:picLocks noChangeAspect="1"/>
          </p:cNvPicPr>
          <p:nvPr/>
        </p:nvPicPr>
        <p:blipFill rotWithShape="1">
          <a:blip r:embed="rId4">
            <a:extLst>
              <a:ext uri="{28A0092B-C50C-407E-A947-70E740481C1C}">
                <a14:useLocalDpi xmlns:a14="http://schemas.microsoft.com/office/drawing/2010/main" val="0"/>
              </a:ext>
            </a:extLst>
          </a:blip>
          <a:srcRect l="6854" r="9573" b="1"/>
          <a:stretch/>
        </p:blipFill>
        <p:spPr>
          <a:xfrm>
            <a:off x="8128856" y="1"/>
            <a:ext cx="4063143" cy="5291384"/>
          </a:xfrm>
          <a:prstGeom prst="rect">
            <a:avLst/>
          </a:prstGeom>
        </p:spPr>
      </p:pic>
      <p:sp>
        <p:nvSpPr>
          <p:cNvPr id="5" name="テキスト ボックス 4">
            <a:extLst>
              <a:ext uri="{FF2B5EF4-FFF2-40B4-BE49-F238E27FC236}">
                <a16:creationId xmlns:a16="http://schemas.microsoft.com/office/drawing/2014/main" id="{BC497437-57AF-80C9-140F-EB409C1D66E4}"/>
              </a:ext>
            </a:extLst>
          </p:cNvPr>
          <p:cNvSpPr txBox="1"/>
          <p:nvPr/>
        </p:nvSpPr>
        <p:spPr>
          <a:xfrm>
            <a:off x="995423" y="4861366"/>
            <a:ext cx="6910085" cy="369332"/>
          </a:xfrm>
          <a:prstGeom prst="rect">
            <a:avLst/>
          </a:prstGeom>
          <a:noFill/>
        </p:spPr>
        <p:txBody>
          <a:bodyPr wrap="square" rtlCol="0">
            <a:spAutoFit/>
          </a:bodyPr>
          <a:lstStyle/>
          <a:p>
            <a:pPr>
              <a:spcAft>
                <a:spcPts val="600"/>
              </a:spcAft>
            </a:pPr>
            <a:r>
              <a:rPr kumimoji="1" lang="en-US" altLang="ja-JP" dirty="0"/>
              <a:t>	</a:t>
            </a:r>
            <a:r>
              <a:rPr kumimoji="1" lang="ja-JP" altLang="en-US" dirty="0"/>
              <a:t>　　</a:t>
            </a:r>
            <a:endParaRPr kumimoji="1" lang="ja-JP" altLang="en-US"/>
          </a:p>
        </p:txBody>
      </p:sp>
    </p:spTree>
    <p:extLst>
      <p:ext uri="{BB962C8B-B14F-4D97-AF65-F5344CB8AC3E}">
        <p14:creationId xmlns:p14="http://schemas.microsoft.com/office/powerpoint/2010/main" val="2979200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コンテンツ プレースホルダー 3">
            <a:extLst>
              <a:ext uri="{FF2B5EF4-FFF2-40B4-BE49-F238E27FC236}">
                <a16:creationId xmlns:a16="http://schemas.microsoft.com/office/drawing/2014/main" id="{95951EB3-C6E4-6A06-AA33-B32F881C3109}"/>
              </a:ext>
            </a:extLst>
          </p:cNvPr>
          <p:cNvPicPr>
            <a:picLocks noGrp="1" noChangeAspect="1"/>
          </p:cNvPicPr>
          <p:nvPr>
            <p:ph idx="1"/>
          </p:nvPr>
        </p:nvPicPr>
        <p:blipFill>
          <a:blip r:embed="rId3"/>
          <a:stretch>
            <a:fillRect/>
          </a:stretch>
        </p:blipFill>
        <p:spPr>
          <a:xfrm>
            <a:off x="2236521" y="457200"/>
            <a:ext cx="7718958" cy="5943600"/>
          </a:xfrm>
          <a:prstGeom prst="rect">
            <a:avLst/>
          </a:prstGeom>
        </p:spPr>
      </p:pic>
    </p:spTree>
    <p:extLst>
      <p:ext uri="{BB962C8B-B14F-4D97-AF65-F5344CB8AC3E}">
        <p14:creationId xmlns:p14="http://schemas.microsoft.com/office/powerpoint/2010/main" val="226354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49B748-09A0-DD4E-ECCF-630795A53DCA}"/>
              </a:ext>
            </a:extLst>
          </p:cNvPr>
          <p:cNvSpPr>
            <a:spLocks noGrp="1"/>
          </p:cNvSpPr>
          <p:nvPr>
            <p:ph type="title"/>
          </p:nvPr>
        </p:nvSpPr>
        <p:spPr>
          <a:xfrm>
            <a:off x="4128368" y="4522156"/>
            <a:ext cx="4937937" cy="1363215"/>
          </a:xfrm>
        </p:spPr>
        <p:txBody>
          <a:bodyPr vert="horz" lIns="91440" tIns="45720" rIns="91440" bIns="45720" rtlCol="0" anchor="t">
            <a:normAutofit/>
          </a:bodyPr>
          <a:lstStyle/>
          <a:p>
            <a:r>
              <a:rPr kumimoji="1" lang="ja-JP" altLang="en-US" sz="3100" kern="1200">
                <a:solidFill>
                  <a:schemeClr val="tx1"/>
                </a:solidFill>
                <a:latin typeface="+mj-lt"/>
                <a:ea typeface="+mj-ea"/>
                <a:cs typeface="+mj-cs"/>
              </a:rPr>
              <a:t>様々な端末に対応している</a:t>
            </a:r>
            <a:br>
              <a:rPr kumimoji="1" lang="en-US" altLang="ja-JP" sz="3100" kern="1200">
                <a:solidFill>
                  <a:schemeClr val="tx1"/>
                </a:solidFill>
                <a:latin typeface="+mj-lt"/>
                <a:ea typeface="+mj-ea"/>
                <a:cs typeface="+mj-cs"/>
              </a:rPr>
            </a:br>
            <a:endParaRPr kumimoji="1" lang="en-US" altLang="ja-JP" sz="3100" kern="1200">
              <a:solidFill>
                <a:schemeClr val="tx1"/>
              </a:solidFill>
              <a:latin typeface="+mj-lt"/>
              <a:ea typeface="+mj-ea"/>
              <a:cs typeface="+mj-cs"/>
            </a:endParaRPr>
          </a:p>
        </p:txBody>
      </p:sp>
      <p:sp>
        <p:nvSpPr>
          <p:cNvPr id="31" name="Freeform: Shape 30">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図 8" descr="ゲーム機のリモコン&#10;&#10;中程度の精度で自動的に生成された説明">
            <a:extLst>
              <a:ext uri="{FF2B5EF4-FFF2-40B4-BE49-F238E27FC236}">
                <a16:creationId xmlns:a16="http://schemas.microsoft.com/office/drawing/2014/main" id="{AD29CD2C-81DD-BB77-2845-D9E3E7BA7D35}"/>
              </a:ext>
            </a:extLst>
          </p:cNvPr>
          <p:cNvPicPr>
            <a:picLocks noChangeAspect="1"/>
          </p:cNvPicPr>
          <p:nvPr/>
        </p:nvPicPr>
        <p:blipFill rotWithShape="1">
          <a:blip r:embed="rId3">
            <a:extLst>
              <a:ext uri="{28A0092B-C50C-407E-A947-70E740481C1C}">
                <a14:useLocalDpi xmlns:a14="http://schemas.microsoft.com/office/drawing/2010/main" val="0"/>
              </a:ext>
            </a:extLst>
          </a:blip>
          <a:srcRect r="4096" b="1"/>
          <a:stretch/>
        </p:blipFill>
        <p:spPr>
          <a:xfrm>
            <a:off x="1246573" y="10"/>
            <a:ext cx="3913632" cy="2285224"/>
          </a:xfrm>
          <a:custGeom>
            <a:avLst/>
            <a:gdLst/>
            <a:ahLst/>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p:spPr>
      </p:pic>
      <p:pic>
        <p:nvPicPr>
          <p:cNvPr id="5" name="コンテンツ プレースホルダー 4" descr="グラフィカル ユーザー インターフェイス, アプリケーション&#10;&#10;自動的に生成された説明">
            <a:extLst>
              <a:ext uri="{FF2B5EF4-FFF2-40B4-BE49-F238E27FC236}">
                <a16:creationId xmlns:a16="http://schemas.microsoft.com/office/drawing/2014/main" id="{C69EF37B-233A-C720-724A-BDF97740A6DD}"/>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l="15993" r="40323" b="-1"/>
          <a:stretch/>
        </p:blipFill>
        <p:spPr>
          <a:xfrm>
            <a:off x="20" y="2288331"/>
            <a:ext cx="3564618" cy="4569668"/>
          </a:xfrm>
          <a:custGeom>
            <a:avLst/>
            <a:gdLst/>
            <a:ahLst/>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p:spPr>
      </p:pic>
      <p:sp>
        <p:nvSpPr>
          <p:cNvPr id="35" name="Oval 34">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0967" y="561316"/>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図 6" descr="屋内, モニター, フロント, 座る が含まれている画像&#10;&#10;自動的に生成された説明">
            <a:extLst>
              <a:ext uri="{FF2B5EF4-FFF2-40B4-BE49-F238E27FC236}">
                <a16:creationId xmlns:a16="http://schemas.microsoft.com/office/drawing/2014/main" id="{7B72C7B6-5425-6915-A634-378497FE96A7}"/>
              </a:ext>
            </a:extLst>
          </p:cNvPr>
          <p:cNvPicPr>
            <a:picLocks noChangeAspect="1"/>
          </p:cNvPicPr>
          <p:nvPr/>
        </p:nvPicPr>
        <p:blipFill rotWithShape="1">
          <a:blip r:embed="rId5">
            <a:extLst>
              <a:ext uri="{28A0092B-C50C-407E-A947-70E740481C1C}">
                <a14:useLocalDpi xmlns:a14="http://schemas.microsoft.com/office/drawing/2010/main" val="0"/>
              </a:ext>
            </a:extLst>
          </a:blip>
          <a:srcRect r="-4" b="-4"/>
          <a:stretch/>
        </p:blipFill>
        <p:spPr>
          <a:xfrm>
            <a:off x="5525559" y="725908"/>
            <a:ext cx="2852928" cy="2852928"/>
          </a:xfrm>
          <a:custGeom>
            <a:avLst/>
            <a:gdLst/>
            <a:ahLst/>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p:spPr>
      </p:pic>
      <p:sp>
        <p:nvSpPr>
          <p:cNvPr id="37" name="Freeform: Shape 36">
            <a:extLst>
              <a:ext uri="{FF2B5EF4-FFF2-40B4-BE49-F238E27FC236}">
                <a16:creationId xmlns:a16="http://schemas.microsoft.com/office/drawing/2014/main" id="{6B9D64DB-4D5C-4A91-B45F-F301E3174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2"/>
            <a:ext cx="3439432" cy="3550083"/>
          </a:xfrm>
          <a:custGeom>
            <a:avLst/>
            <a:gdLst>
              <a:gd name="connsiteX0" fmla="*/ 115336 w 3439432"/>
              <a:gd name="connsiteY0" fmla="*/ 0 h 3550083"/>
              <a:gd name="connsiteX1" fmla="*/ 3439432 w 3439432"/>
              <a:gd name="connsiteY1" fmla="*/ 0 h 3550083"/>
              <a:gd name="connsiteX2" fmla="*/ 3439432 w 3439432"/>
              <a:gd name="connsiteY2" fmla="*/ 3462762 h 3550083"/>
              <a:gd name="connsiteX3" fmla="*/ 3318024 w 3439432"/>
              <a:gd name="connsiteY3" fmla="*/ 3493980 h 3550083"/>
              <a:gd name="connsiteX4" fmla="*/ 2761488 w 3439432"/>
              <a:gd name="connsiteY4" fmla="*/ 3550083 h 3550083"/>
              <a:gd name="connsiteX5" fmla="*/ 0 w 3439432"/>
              <a:gd name="connsiteY5" fmla="*/ 788595 h 3550083"/>
              <a:gd name="connsiteX6" fmla="*/ 70713 w 3439432"/>
              <a:gd name="connsiteY6" fmla="*/ 164949 h 355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550083">
                <a:moveTo>
                  <a:pt x="115336" y="0"/>
                </a:moveTo>
                <a:lnTo>
                  <a:pt x="3439432" y="0"/>
                </a:lnTo>
                <a:lnTo>
                  <a:pt x="3439432" y="3462762"/>
                </a:lnTo>
                <a:lnTo>
                  <a:pt x="3318024" y="3493980"/>
                </a:lnTo>
                <a:cubicBezTo>
                  <a:pt x="3138258" y="3530765"/>
                  <a:pt x="2952129" y="3550083"/>
                  <a:pt x="2761488" y="3550083"/>
                </a:cubicBezTo>
                <a:cubicBezTo>
                  <a:pt x="1236360" y="3550083"/>
                  <a:pt x="0" y="2313723"/>
                  <a:pt x="0" y="788595"/>
                </a:cubicBezTo>
                <a:cubicBezTo>
                  <a:pt x="0" y="574124"/>
                  <a:pt x="24450" y="365364"/>
                  <a:pt x="70713" y="164949"/>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図 10" descr="テキスト が含まれている画像&#10;&#10;自動的に生成された説明">
            <a:extLst>
              <a:ext uri="{FF2B5EF4-FFF2-40B4-BE49-F238E27FC236}">
                <a16:creationId xmlns:a16="http://schemas.microsoft.com/office/drawing/2014/main" id="{3694D641-60EC-685F-E72F-C7C4E6C2B8D3}"/>
              </a:ext>
            </a:extLst>
          </p:cNvPr>
          <p:cNvPicPr>
            <a:picLocks noChangeAspect="1"/>
          </p:cNvPicPr>
          <p:nvPr/>
        </p:nvPicPr>
        <p:blipFill rotWithShape="1">
          <a:blip r:embed="rId6">
            <a:extLst>
              <a:ext uri="{28A0092B-C50C-407E-A947-70E740481C1C}">
                <a14:useLocalDpi xmlns:a14="http://schemas.microsoft.com/office/drawing/2010/main" val="0"/>
              </a:ext>
            </a:extLst>
          </a:blip>
          <a:srcRect l="23348" r="16198" b="3"/>
          <a:stretch/>
        </p:blipFill>
        <p:spPr>
          <a:xfrm>
            <a:off x="8918761" y="-4331"/>
            <a:ext cx="3273238" cy="3383891"/>
          </a:xfrm>
          <a:custGeom>
            <a:avLst/>
            <a:gdLst/>
            <a:ahLst/>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p:spPr>
      </p:pic>
      <p:sp>
        <p:nvSpPr>
          <p:cNvPr id="39" name="Freeform: Shape 38">
            <a:extLst>
              <a:ext uri="{FF2B5EF4-FFF2-40B4-BE49-F238E27FC236}">
                <a16:creationId xmlns:a16="http://schemas.microsoft.com/office/drawing/2014/main" id="{CB14CE1B-4BC5-4EF2-BE3D-05E4F580B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9331" y="3907418"/>
            <a:ext cx="2992669" cy="2950582"/>
          </a:xfrm>
          <a:custGeom>
            <a:avLst/>
            <a:gdLst>
              <a:gd name="connsiteX0" fmla="*/ 2052140 w 2992669"/>
              <a:gd name="connsiteY0" fmla="*/ 0 h 2950582"/>
              <a:gd name="connsiteX1" fmla="*/ 2850926 w 2992669"/>
              <a:gd name="connsiteY1" fmla="*/ 161267 h 2950582"/>
              <a:gd name="connsiteX2" fmla="*/ 2992669 w 2992669"/>
              <a:gd name="connsiteY2" fmla="*/ 229549 h 2950582"/>
              <a:gd name="connsiteX3" fmla="*/ 2992669 w 2992669"/>
              <a:gd name="connsiteY3" fmla="*/ 2950582 h 2950582"/>
              <a:gd name="connsiteX4" fmla="*/ 209274 w 2992669"/>
              <a:gd name="connsiteY4" fmla="*/ 2950582 h 2950582"/>
              <a:gd name="connsiteX5" fmla="*/ 161267 w 2992669"/>
              <a:gd name="connsiteY5" fmla="*/ 2850926 h 2950582"/>
              <a:gd name="connsiteX6" fmla="*/ 0 w 2992669"/>
              <a:gd name="connsiteY6" fmla="*/ 2052140 h 2950582"/>
              <a:gd name="connsiteX7" fmla="*/ 2052140 w 2992669"/>
              <a:gd name="connsiteY7" fmla="*/ 0 h 29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92669" h="2950582">
                <a:moveTo>
                  <a:pt x="2052140" y="0"/>
                </a:moveTo>
                <a:cubicBezTo>
                  <a:pt x="2335482" y="0"/>
                  <a:pt x="2605411" y="57424"/>
                  <a:pt x="2850926" y="161267"/>
                </a:cubicBezTo>
                <a:lnTo>
                  <a:pt x="2992669" y="229549"/>
                </a:lnTo>
                <a:lnTo>
                  <a:pt x="2992669" y="2950582"/>
                </a:lnTo>
                <a:lnTo>
                  <a:pt x="209274" y="2950582"/>
                </a:lnTo>
                <a:lnTo>
                  <a:pt x="161267" y="2850926"/>
                </a:lnTo>
                <a:cubicBezTo>
                  <a:pt x="57423" y="2605411"/>
                  <a:pt x="0" y="2335482"/>
                  <a:pt x="0" y="2052140"/>
                </a:cubicBezTo>
                <a:cubicBezTo>
                  <a:pt x="0" y="918774"/>
                  <a:pt x="918774" y="0"/>
                  <a:pt x="205214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図 12">
            <a:extLst>
              <a:ext uri="{FF2B5EF4-FFF2-40B4-BE49-F238E27FC236}">
                <a16:creationId xmlns:a16="http://schemas.microsoft.com/office/drawing/2014/main" id="{21CAC063-4FE9-09E3-C0F1-CDAB0CE44E79}"/>
              </a:ext>
            </a:extLst>
          </p:cNvPr>
          <p:cNvPicPr>
            <a:picLocks noChangeAspect="1"/>
          </p:cNvPicPr>
          <p:nvPr/>
        </p:nvPicPr>
        <p:blipFill rotWithShape="1">
          <a:blip r:embed="rId7">
            <a:extLst>
              <a:ext uri="{28A0092B-C50C-407E-A947-70E740481C1C}">
                <a14:useLocalDpi xmlns:a14="http://schemas.microsoft.com/office/drawing/2010/main" val="0"/>
              </a:ext>
            </a:extLst>
          </a:blip>
          <a:srcRect l="27605" r="25955" b="2"/>
          <a:stretch/>
        </p:blipFill>
        <p:spPr>
          <a:xfrm>
            <a:off x="9363236" y="4071322"/>
            <a:ext cx="2828765" cy="2786678"/>
          </a:xfrm>
          <a:custGeom>
            <a:avLst/>
            <a:gdLst/>
            <a:ahLst/>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p:spPr>
      </p:pic>
    </p:spTree>
    <p:extLst>
      <p:ext uri="{BB962C8B-B14F-4D97-AF65-F5344CB8AC3E}">
        <p14:creationId xmlns:p14="http://schemas.microsoft.com/office/powerpoint/2010/main" val="421758371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14A5A33-F76F-A7B0-1F9D-51C1DF70315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ja-JP" altLang="en-US" sz="2200" kern="1200">
                <a:solidFill>
                  <a:schemeClr val="bg1"/>
                </a:solidFill>
                <a:latin typeface="+mj-lt"/>
                <a:ea typeface="+mj-ea"/>
                <a:cs typeface="+mj-cs"/>
              </a:rPr>
              <a:t>アセットストアでほかのユーザーが作ったプログラムの部品などを使うことができる</a:t>
            </a:r>
            <a:br>
              <a:rPr kumimoji="1" lang="en-US" altLang="ja-JP" sz="2200" kern="1200">
                <a:solidFill>
                  <a:schemeClr val="bg1"/>
                </a:solidFill>
                <a:latin typeface="+mj-lt"/>
                <a:ea typeface="+mj-ea"/>
                <a:cs typeface="+mj-cs"/>
              </a:rPr>
            </a:br>
            <a:endParaRPr kumimoji="1" lang="en-US" altLang="ja-JP" sz="2200" kern="1200">
              <a:solidFill>
                <a:schemeClr val="bg1"/>
              </a:solidFill>
              <a:latin typeface="+mj-lt"/>
              <a:ea typeface="+mj-ea"/>
              <a:cs typeface="+mj-cs"/>
            </a:endParaRPr>
          </a:p>
        </p:txBody>
      </p:sp>
      <p:pic>
        <p:nvPicPr>
          <p:cNvPr id="5" name="コンテンツ プレースホルダー 4" descr="グラフィカル ユーザー インターフェイス, Web サイト&#10;&#10;自動的に生成された説明">
            <a:extLst>
              <a:ext uri="{FF2B5EF4-FFF2-40B4-BE49-F238E27FC236}">
                <a16:creationId xmlns:a16="http://schemas.microsoft.com/office/drawing/2014/main" id="{6175B6E0-9C8C-824E-6B65-EAC22C057E9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57416" y="1675227"/>
            <a:ext cx="8877167" cy="4394199"/>
          </a:xfrm>
          <a:prstGeom prst="rect">
            <a:avLst/>
          </a:prstGeom>
        </p:spPr>
      </p:pic>
    </p:spTree>
    <p:extLst>
      <p:ext uri="{BB962C8B-B14F-4D97-AF65-F5344CB8AC3E}">
        <p14:creationId xmlns:p14="http://schemas.microsoft.com/office/powerpoint/2010/main" val="736744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4">
            <a:extLst>
              <a:ext uri="{FF2B5EF4-FFF2-40B4-BE49-F238E27FC236}">
                <a16:creationId xmlns:a16="http://schemas.microsoft.com/office/drawing/2014/main" id="{A8CCCB6D-5162-4AAE-A5E3-3AC55410D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6">
            <a:extLst>
              <a:ext uri="{FF2B5EF4-FFF2-40B4-BE49-F238E27FC236}">
                <a16:creationId xmlns:a16="http://schemas.microsoft.com/office/drawing/2014/main" id="{0BCD8C04-CC7B-40EF-82EB-E9821F79B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0" y="2458"/>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descr="グラフィカル ユーザー インターフェイス, Web サイト&#10;&#10;自動的に生成された説明">
            <a:extLst>
              <a:ext uri="{FF2B5EF4-FFF2-40B4-BE49-F238E27FC236}">
                <a16:creationId xmlns:a16="http://schemas.microsoft.com/office/drawing/2014/main" id="{DB48ECAE-8F9D-9506-A7AB-E245CB1AF756}"/>
              </a:ext>
            </a:extLst>
          </p:cNvPr>
          <p:cNvPicPr>
            <a:picLocks noChangeAspect="1"/>
          </p:cNvPicPr>
          <p:nvPr/>
        </p:nvPicPr>
        <p:blipFill rotWithShape="1">
          <a:blip r:embed="rId3">
            <a:alphaModFix amt="40000"/>
            <a:extLst>
              <a:ext uri="{28A0092B-C50C-407E-A947-70E740481C1C}">
                <a14:useLocalDpi xmlns:a14="http://schemas.microsoft.com/office/drawing/2010/main" val="0"/>
              </a:ext>
            </a:extLst>
          </a:blip>
          <a:srcRect l="23889" r="5876"/>
          <a:stretch/>
        </p:blipFill>
        <p:spPr>
          <a:xfrm>
            <a:off x="-170" y="10"/>
            <a:ext cx="8450317" cy="6857990"/>
          </a:xfrm>
          <a:prstGeom prst="rect">
            <a:avLst/>
          </a:prstGeom>
        </p:spPr>
      </p:pic>
      <p:pic>
        <p:nvPicPr>
          <p:cNvPr id="5" name="コンテンツ プレースホルダー 4" descr="グラフィカル ユーザー インターフェイス, テキスト, チャットまたはテキスト メッセージ">
            <a:extLst>
              <a:ext uri="{FF2B5EF4-FFF2-40B4-BE49-F238E27FC236}">
                <a16:creationId xmlns:a16="http://schemas.microsoft.com/office/drawing/2014/main" id="{D7135A4B-CD1D-7FE9-98C4-26FA52D5D688}"/>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l="18309" r="18310" b="1"/>
          <a:stretch/>
        </p:blipFill>
        <p:spPr>
          <a:xfrm>
            <a:off x="6225997" y="-2458"/>
            <a:ext cx="5962785" cy="685800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43766930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TotalTime>
  <Words>352</Words>
  <Application>Microsoft Office PowerPoint</Application>
  <PresentationFormat>ワイド画面</PresentationFormat>
  <Paragraphs>27</Paragraphs>
  <Slides>6</Slides>
  <Notes>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游ゴシック</vt:lpstr>
      <vt:lpstr>游ゴシック Light</vt:lpstr>
      <vt:lpstr>Arial</vt:lpstr>
      <vt:lpstr>Calibri</vt:lpstr>
      <vt:lpstr>Office テーマ</vt:lpstr>
      <vt:lpstr>エンジン／ツール調査</vt:lpstr>
      <vt:lpstr>原神</vt:lpstr>
      <vt:lpstr>PowerPoint プレゼンテーション</vt:lpstr>
      <vt:lpstr>様々な端末に対応している </vt:lpstr>
      <vt:lpstr>アセットストアでほかのユーザーが作ったプログラムの部品などを使うことができる </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THS23 安田晴人</dc:creator>
  <cp:lastModifiedBy>THS23 安田晴人</cp:lastModifiedBy>
  <cp:revision>2</cp:revision>
  <dcterms:created xsi:type="dcterms:W3CDTF">2023-06-30T05:29:07Z</dcterms:created>
  <dcterms:modified xsi:type="dcterms:W3CDTF">2023-07-07T03:46:48Z</dcterms:modified>
</cp:coreProperties>
</file>