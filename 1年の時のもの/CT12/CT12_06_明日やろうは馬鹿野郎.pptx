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7" r:id="rId12"/>
    <p:sldId id="266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96A6EF-D950-DCE5-4851-88897A183403}" v="90" dt="2023-11-17T05:40:02.908"/>
    <p1510:client id="{37D056BB-9832-4FD9-834E-DEAF5DF38796}" v="704" dt="2023-11-17T08:25:34.062"/>
    <p1510:client id="{3ADA8347-D02B-13AD-4715-2F189EB27461}" v="37" dt="2023-11-17T04:02:44.732"/>
    <p1510:client id="{3C96281A-E76A-8D99-48A4-A3E1EA706ECB}" v="2" dt="2023-11-17T05:16:28.627"/>
    <p1510:client id="{4BE4EB25-0660-C4C6-218E-B77933FFDEE9}" v="10" dt="2023-11-17T08:12:03.027"/>
    <p1510:client id="{5590E287-B7E8-3D89-F7D0-77BDCA9149CA}" v="11" dt="2023-11-17T05:45:25.763"/>
    <p1510:client id="{655B3ABC-6DD9-4FF4-2727-60FBCB6372E0}" v="67" dt="2023-11-17T05:11:47.130"/>
    <p1510:client id="{75DA4E2E-A739-F2F5-CE79-A8E6DF458AB7}" v="75" dt="2023-11-17T03:58:47.647"/>
    <p1510:client id="{A672090C-F4F8-D55C-D14E-88222E5AD88C}" v="13" dt="2023-11-17T07:14:32.521"/>
    <p1510:client id="{C84EEFEC-C8E7-53D4-1AA7-9F85550DECDD}" v="26" dt="2023-11-17T05:16:47.2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9A6B1C-5356-4FC0-90F1-4CCB5480BC92}" type="datetimeFigureOut">
              <a:t>2023/11/17</a:t>
            </a:fld>
            <a:endParaRPr kumimoji="1"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/>
              <a:t>Click to edit Master text styles</a:t>
            </a:r>
          </a:p>
          <a:p>
            <a:pPr lvl="1"/>
            <a:r>
              <a:rPr kumimoji="1" lang="en-US"/>
              <a:t>Second level</a:t>
            </a:r>
          </a:p>
          <a:p>
            <a:pPr lvl="2"/>
            <a:r>
              <a:rPr kumimoji="1" lang="en-US"/>
              <a:t>Third level</a:t>
            </a:r>
          </a:p>
          <a:p>
            <a:pPr lvl="3"/>
            <a:r>
              <a:rPr kumimoji="1" lang="en-US"/>
              <a:t>Fourth level</a:t>
            </a:r>
          </a:p>
          <a:p>
            <a:pPr lvl="4"/>
            <a:r>
              <a:rPr kumimoji="1"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EC391-DADF-4570-9266-9B414F26FED7}" type="slidenum">
              <a:t>‹#›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578460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C391-DADF-4570-9266-9B414F26FED7}" type="slidenum">
              <a:t>1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506993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C391-DADF-4570-9266-9B414F26FED7}" type="slidenum">
              <a:t>2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160450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>
              <a:ea typeface="游ゴシック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C391-DADF-4570-9266-9B414F26FED7}" type="slidenum">
              <a:t>3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5601375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>
              <a:ea typeface="游ゴシック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C391-DADF-4570-9266-9B414F26FED7}" type="slidenum">
              <a:t>4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076420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>
              <a:ea typeface="游ゴシック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C391-DADF-4570-9266-9B414F26FED7}" type="slidenum">
              <a:t>5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688262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>
              <a:ea typeface="游ゴシック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C391-DADF-4570-9266-9B414F26FED7}" type="slidenum">
              <a:t>6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612005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>
              <a:ea typeface="游ゴシック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C391-DADF-4570-9266-9B414F26FED7}" type="slidenum">
              <a:t>7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2941886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 dirty="0">
              <a:ea typeface="游ゴシック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C391-DADF-4570-9266-9B414F26FED7}" type="slidenum">
              <a:t>8</a:t>
            </a:fld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9091729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EC391-DADF-4570-9266-9B414F26FED7}" type="slidenum">
              <a:rPr lang="en-US" altLang="ja-JP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3245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213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830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086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305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800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216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817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535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241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224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98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11/17/2023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454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8F25A3-856E-06CC-B25C-C0DF4B1982C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42855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E5603B6-5B84-5474-B8BD-E0D09DA752FE}"/>
              </a:ext>
            </a:extLst>
          </p:cNvPr>
          <p:cNvSpPr txBox="1"/>
          <p:nvPr/>
        </p:nvSpPr>
        <p:spPr>
          <a:xfrm>
            <a:off x="566057" y="303312"/>
            <a:ext cx="7633949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kumimoji="1" lang="ja-JP" altLang="en-US" sz="2800">
                <a:ea typeface="游ゴシック"/>
              </a:rPr>
              <a:t>プラットフォーム：</a:t>
            </a:r>
            <a:r>
              <a:rPr kumimoji="1" lang="en-US" altLang="ja-JP" sz="2800">
                <a:ea typeface="游ゴシック"/>
              </a:rPr>
              <a:t>S</a:t>
            </a:r>
            <a:r>
              <a:rPr lang="en-US" altLang="ja-JP" sz="2800">
                <a:ea typeface="游ゴシック"/>
              </a:rPr>
              <a:t>team</a:t>
            </a:r>
            <a:r>
              <a:rPr lang="ja-JP" altLang="en-US" sz="2800">
                <a:ea typeface="游ゴシック"/>
              </a:rPr>
              <a:t>・</a:t>
            </a:r>
            <a:r>
              <a:rPr lang="en-US" altLang="ja-JP" sz="2800">
                <a:ea typeface="游ゴシック"/>
              </a:rPr>
              <a:t>Switch</a:t>
            </a:r>
            <a:r>
              <a:rPr lang="ja-JP" altLang="en-US" sz="2800">
                <a:ea typeface="游ゴシック"/>
              </a:rPr>
              <a:t>・</a:t>
            </a:r>
            <a:r>
              <a:rPr lang="en-US" altLang="ja-JP" sz="2800">
                <a:ea typeface="游ゴシック"/>
              </a:rPr>
              <a:t>PlayStation</a:t>
            </a:r>
            <a:endParaRPr lang="ja-JP" altLang="en-US" sz="2800">
              <a:ea typeface="游ゴシック"/>
              <a:cs typeface="Calibri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B80D5C-EAB2-BA89-3DD4-A38FBF49573C}"/>
              </a:ext>
            </a:extLst>
          </p:cNvPr>
          <p:cNvSpPr txBox="1"/>
          <p:nvPr/>
        </p:nvSpPr>
        <p:spPr>
          <a:xfrm>
            <a:off x="533399" y="828595"/>
            <a:ext cx="7622600" cy="52322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kumimoji="1" lang="ja-JP" altLang="en-US" sz="2800">
                <a:ea typeface="游ゴシック"/>
              </a:rPr>
              <a:t>ゲームジャンル</a:t>
            </a:r>
            <a:r>
              <a:rPr kumimoji="1" lang="en-US" altLang="ja-JP" sz="2800">
                <a:ea typeface="游ゴシック"/>
              </a:rPr>
              <a:t>	</a:t>
            </a:r>
            <a:r>
              <a:rPr kumimoji="1" lang="ja-JP" altLang="en-US" sz="2800">
                <a:ea typeface="游ゴシック"/>
              </a:rPr>
              <a:t>：ステルスパズルアクション</a:t>
            </a:r>
            <a:endParaRPr lang="ja-JP" altLang="en-US" sz="2800">
              <a:ea typeface="游ゴシック"/>
              <a:cs typeface="Calibri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719273F-3B1A-E2D5-F8C9-0E37C5F67E35}"/>
              </a:ext>
            </a:extLst>
          </p:cNvPr>
          <p:cNvSpPr txBox="1"/>
          <p:nvPr/>
        </p:nvSpPr>
        <p:spPr>
          <a:xfrm>
            <a:off x="8154955" y="5243804"/>
            <a:ext cx="3402925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>
                <a:ea typeface="游ゴシック"/>
              </a:rPr>
              <a:t>提案日：</a:t>
            </a:r>
            <a:r>
              <a:rPr lang="ja-JP" altLang="en-US">
                <a:ea typeface="游ゴシック"/>
              </a:rPr>
              <a:t>２０２３/</a:t>
            </a:r>
            <a:r>
              <a:rPr kumimoji="1" lang="ja-JP" altLang="en-US">
                <a:ea typeface="游ゴシック"/>
              </a:rPr>
              <a:t>１１</a:t>
            </a:r>
            <a:r>
              <a:rPr lang="ja-JP" altLang="en-US">
                <a:ea typeface="游ゴシック"/>
              </a:rPr>
              <a:t>/</a:t>
            </a:r>
            <a:r>
              <a:rPr kumimoji="1" lang="ja-JP" altLang="en-US">
                <a:ea typeface="游ゴシック"/>
              </a:rPr>
              <a:t>１</a:t>
            </a:r>
            <a:r>
              <a:rPr lang="ja-JP" altLang="en-US">
                <a:ea typeface="游ゴシック"/>
              </a:rPr>
              <a:t>７</a:t>
            </a:r>
            <a:endParaRPr lang="ja-JP">
              <a:ea typeface="游ゴシック"/>
              <a:cs typeface="Calibri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C52BFFF-1BAA-587A-2583-77CBECD29E9D}"/>
              </a:ext>
            </a:extLst>
          </p:cNvPr>
          <p:cNvSpPr txBox="1"/>
          <p:nvPr/>
        </p:nvSpPr>
        <p:spPr>
          <a:xfrm>
            <a:off x="8084282" y="5887616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グループ名：明日やろうは馬鹿野郎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06AA899C-9A96-46A8-FA63-5F3B0341C874}"/>
              </a:ext>
            </a:extLst>
          </p:cNvPr>
          <p:cNvSpPr/>
          <p:nvPr/>
        </p:nvSpPr>
        <p:spPr>
          <a:xfrm>
            <a:off x="2384968" y="1306784"/>
            <a:ext cx="7422063" cy="360598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9DE4D17-1C91-D691-D243-886DFA8F2598}"/>
              </a:ext>
            </a:extLst>
          </p:cNvPr>
          <p:cNvSpPr txBox="1"/>
          <p:nvPr/>
        </p:nvSpPr>
        <p:spPr>
          <a:xfrm>
            <a:off x="2526609" y="2351440"/>
            <a:ext cx="7092000" cy="156966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kumimoji="1" lang="en-US" altLang="ja-JP" sz="9600" b="1">
                <a:ln w="76200"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Hide</a:t>
            </a:r>
            <a:r>
              <a:rPr kumimoji="1" lang="ja-JP" altLang="en-US" sz="9600" b="1">
                <a:ln w="76200"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＆</a:t>
            </a:r>
            <a:r>
              <a:rPr kumimoji="1" lang="en-US" altLang="ja-JP" sz="9600" b="1">
                <a:ln w="76200"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HGP創英ﾌﾟﾚｾﾞﾝｽEB" panose="02020800000000000000" pitchFamily="18" charset="-128"/>
                <a:ea typeface="HGP創英ﾌﾟﾚｾﾞﾝｽEB" panose="02020800000000000000" pitchFamily="18" charset="-128"/>
              </a:rPr>
              <a:t>Dig</a:t>
            </a:r>
            <a:endParaRPr lang="ja-JP" altLang="en-US" sz="9600" b="1">
              <a:ln w="76200">
                <a:solidFill>
                  <a:schemeClr val="accent2">
                    <a:lumMod val="75000"/>
                  </a:schemeClr>
                </a:solidFill>
              </a:ln>
              <a:solidFill>
                <a:schemeClr val="bg1"/>
              </a:solidFill>
              <a:latin typeface="HGP創英ﾌﾟﾚｾﾞﾝｽEB" panose="02020800000000000000" pitchFamily="18" charset="-128"/>
              <a:ea typeface="HGP創英ﾌﾟﾚｾﾞﾝｽEB" panose="02020800000000000000" pitchFamily="18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79CB836-C73D-25B1-B850-2E3F53A8F2D3}"/>
              </a:ext>
            </a:extLst>
          </p:cNvPr>
          <p:cNvSpPr txBox="1"/>
          <p:nvPr/>
        </p:nvSpPr>
        <p:spPr>
          <a:xfrm rot="20156421">
            <a:off x="295942" y="2201524"/>
            <a:ext cx="4559318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kumimoji="1" lang="ja-JP" altLang="en-US" sz="4800" b="1">
                <a:solidFill>
                  <a:srgbClr val="FF0000"/>
                </a:solidFill>
                <a:ea typeface="游ゴシック"/>
              </a:rPr>
              <a:t>速やかに掘れ！</a:t>
            </a:r>
            <a:endParaRPr lang="ja-JP" altLang="en-US" sz="4800" b="1">
              <a:solidFill>
                <a:srgbClr val="FF0000"/>
              </a:solidFill>
              <a:ea typeface="游ゴシック"/>
              <a:cs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6E64B2F-5AF2-5B99-8D46-78104754D5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18366" y="3005890"/>
            <a:ext cx="3382364" cy="48266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A53274-43E5-6707-35B2-E8CD0A6AC3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97" y="3296651"/>
            <a:ext cx="2253299" cy="305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273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7002F3FA-7DC9-9C24-56BE-8DDB6CD4B74D}"/>
              </a:ext>
            </a:extLst>
          </p:cNvPr>
          <p:cNvSpPr/>
          <p:nvPr/>
        </p:nvSpPr>
        <p:spPr>
          <a:xfrm>
            <a:off x="7591779" y="3608234"/>
            <a:ext cx="4356633" cy="310216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AEC914A-72DD-5ABB-CA0E-42C8C248CF45}"/>
              </a:ext>
            </a:extLst>
          </p:cNvPr>
          <p:cNvSpPr txBox="1"/>
          <p:nvPr/>
        </p:nvSpPr>
        <p:spPr>
          <a:xfrm>
            <a:off x="417895" y="346611"/>
            <a:ext cx="11530519" cy="317783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32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　</a:t>
            </a:r>
            <a:endParaRPr lang="en-US" altLang="ja-JP" sz="3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ゲームジャンル</a:t>
            </a:r>
            <a:endParaRPr lang="en-US" altLang="ja-JP" sz="3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36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・ステルスパズルアクションゲーム</a:t>
            </a:r>
            <a:endParaRPr lang="en-US" altLang="ja-JP" sz="36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敵に見つからないように地上と地下を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行き来して、ゴール地点を目指す</a:t>
            </a:r>
            <a:endParaRPr lang="en-US" altLang="ja-JP" sz="24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  <a:p>
            <a:r>
              <a:rPr lang="ja-JP" altLang="en-US" sz="24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ハラハラドキドキのアクションパズルゲーム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1FDC19AA-D24A-AA9C-F6B7-5610A53F2AD1}"/>
              </a:ext>
            </a:extLst>
          </p:cNvPr>
          <p:cNvSpPr/>
          <p:nvPr/>
        </p:nvSpPr>
        <p:spPr>
          <a:xfrm>
            <a:off x="404285" y="3608217"/>
            <a:ext cx="7067764" cy="3109424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26" name="Picture 2" descr="Nintendo Switchコントローラー Joy-Con(L) ネオンレッド/(R) ネオンブルー(状態：ストラップ欠品、本体状態難)">
            <a:extLst>
              <a:ext uri="{FF2B5EF4-FFF2-40B4-BE49-F238E27FC236}">
                <a16:creationId xmlns:a16="http://schemas.microsoft.com/office/drawing/2014/main" id="{4D6DB247-56AB-108E-C2B2-DBC6AD839E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1517" y="4637430"/>
            <a:ext cx="1089325" cy="147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0A7415E-CE42-A2BA-7F25-1ED981D73B15}"/>
              </a:ext>
            </a:extLst>
          </p:cNvPr>
          <p:cNvSpPr txBox="1"/>
          <p:nvPr/>
        </p:nvSpPr>
        <p:spPr>
          <a:xfrm>
            <a:off x="9568653" y="4086002"/>
            <a:ext cx="2379760" cy="52449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ja-JP" sz="1400" b="1"/>
              <a:t>A</a:t>
            </a:r>
            <a:r>
              <a:rPr kumimoji="1" lang="ja-JP" altLang="en-US" sz="1400" b="1"/>
              <a:t>：ジャンプ</a:t>
            </a:r>
            <a:r>
              <a:rPr kumimoji="1" lang="en-US" altLang="ja-JP" sz="1400" b="1"/>
              <a:t>(</a:t>
            </a:r>
            <a:r>
              <a:rPr kumimoji="1" lang="ja-JP" altLang="en-US" sz="1400" b="1"/>
              <a:t>地下：埋める</a:t>
            </a:r>
            <a:r>
              <a:rPr kumimoji="1" lang="en-US" altLang="ja-JP" sz="1400" b="1"/>
              <a:t>)</a:t>
            </a:r>
          </a:p>
          <a:p>
            <a:r>
              <a:rPr lang="en-US" altLang="ja-JP" sz="1400" b="1"/>
              <a:t>B</a:t>
            </a:r>
            <a:r>
              <a:rPr kumimoji="1" lang="ja-JP" altLang="en-US" sz="1400" b="1"/>
              <a:t>：掘る</a:t>
            </a:r>
            <a:endParaRPr kumimoji="1" lang="en-US" altLang="ja-JP" sz="1400" b="1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B9DC59EE-19A6-E107-6FF8-D1006D00CBF6}"/>
              </a:ext>
            </a:extLst>
          </p:cNvPr>
          <p:cNvSpPr txBox="1"/>
          <p:nvPr/>
        </p:nvSpPr>
        <p:spPr>
          <a:xfrm flipH="1">
            <a:off x="7580981" y="4086002"/>
            <a:ext cx="1897316" cy="52449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400" b="1"/>
              <a:t>十字キー</a:t>
            </a:r>
            <a:endParaRPr lang="en-US" altLang="ja-JP" sz="1400" b="1"/>
          </a:p>
          <a:p>
            <a:r>
              <a:rPr lang="ja-JP" altLang="en-US" sz="1400" b="1"/>
              <a:t>左スティック：</a:t>
            </a:r>
            <a:r>
              <a:rPr kumimoji="1" lang="ja-JP" altLang="en-US" sz="1400" b="1"/>
              <a:t>移動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131F69D-7F6F-1A45-5F34-348CDB5D7B05}"/>
              </a:ext>
            </a:extLst>
          </p:cNvPr>
          <p:cNvSpPr txBox="1"/>
          <p:nvPr/>
        </p:nvSpPr>
        <p:spPr>
          <a:xfrm>
            <a:off x="0" y="-15683"/>
            <a:ext cx="1185769" cy="52449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概要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5416CC9-1E51-7258-2269-43B4BCDD1842}"/>
              </a:ext>
            </a:extLst>
          </p:cNvPr>
          <p:cNvSpPr txBox="1"/>
          <p:nvPr/>
        </p:nvSpPr>
        <p:spPr>
          <a:xfrm>
            <a:off x="413470" y="3624487"/>
            <a:ext cx="1199020" cy="462791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特徴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7F7A46C-2B49-5FBE-98B0-46101429974C}"/>
              </a:ext>
            </a:extLst>
          </p:cNvPr>
          <p:cNvSpPr txBox="1"/>
          <p:nvPr/>
        </p:nvSpPr>
        <p:spPr>
          <a:xfrm>
            <a:off x="490135" y="4121010"/>
            <a:ext cx="2208157" cy="2591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ja-JP" altLang="en-US" b="1"/>
              <a:t>①</a:t>
            </a:r>
            <a:endParaRPr lang="en-US" altLang="ja-JP" b="1"/>
          </a:p>
          <a:p>
            <a:endParaRPr lang="ja-JP" altLang="en-US" b="1">
              <a:ea typeface="游ゴシック"/>
            </a:endParaRPr>
          </a:p>
          <a:p>
            <a:r>
              <a:rPr kumimoji="1" lang="ja-JP" altLang="en-US" b="1"/>
              <a:t>地上にも地下にも常に敵がいる。</a:t>
            </a:r>
            <a:endParaRPr kumimoji="1" lang="en-US" altLang="ja-JP" b="1"/>
          </a:p>
          <a:p>
            <a:endParaRPr lang="en-US" altLang="ja-JP" b="1"/>
          </a:p>
          <a:p>
            <a:r>
              <a:rPr lang="ja-JP" altLang="en-US" b="1"/>
              <a:t>それによって、</a:t>
            </a:r>
            <a:endParaRPr lang="en-US" altLang="ja-JP" b="1"/>
          </a:p>
          <a:p>
            <a:r>
              <a:rPr kumimoji="1" lang="ja-JP" altLang="en-US" b="1"/>
              <a:t>絶え間ないスリ</a:t>
            </a:r>
            <a:r>
              <a:rPr lang="ja-JP" altLang="en-US" b="1"/>
              <a:t>ル</a:t>
            </a:r>
            <a:r>
              <a:rPr kumimoji="1" lang="ja-JP" altLang="en-US" b="1"/>
              <a:t>を味わうことが</a:t>
            </a:r>
            <a:endParaRPr kumimoji="1" lang="en-US" altLang="ja-JP" b="1"/>
          </a:p>
          <a:p>
            <a:r>
              <a:rPr kumimoji="1" lang="ja-JP" altLang="en-US" b="1"/>
              <a:t>できる。</a:t>
            </a:r>
            <a:endParaRPr kumimoji="1" lang="en-US" altLang="ja-JP" b="1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64C164B-A48F-F33E-1756-4AE8CC398D37}"/>
              </a:ext>
            </a:extLst>
          </p:cNvPr>
          <p:cNvSpPr txBox="1"/>
          <p:nvPr/>
        </p:nvSpPr>
        <p:spPr>
          <a:xfrm>
            <a:off x="2807713" y="4121010"/>
            <a:ext cx="2277131" cy="2591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b="1"/>
              <a:t>②</a:t>
            </a:r>
            <a:endParaRPr kumimoji="1" lang="en-US" altLang="ja-JP" b="1"/>
          </a:p>
          <a:p>
            <a:endParaRPr kumimoji="1" lang="en-US" altLang="ja-JP" b="1"/>
          </a:p>
          <a:p>
            <a:r>
              <a:rPr lang="ja-JP" altLang="en-US" b="1"/>
              <a:t>基本的に敵は</a:t>
            </a:r>
            <a:endParaRPr lang="en-US" altLang="ja-JP" b="1"/>
          </a:p>
          <a:p>
            <a:r>
              <a:rPr lang="ja-JP" altLang="en-US" b="1"/>
              <a:t>倒せない。</a:t>
            </a:r>
            <a:endParaRPr lang="en-US" altLang="ja-JP" b="1"/>
          </a:p>
          <a:p>
            <a:endParaRPr lang="en-US" altLang="ja-JP" b="1"/>
          </a:p>
          <a:p>
            <a:r>
              <a:rPr lang="ja-JP" altLang="en-US" b="1"/>
              <a:t>しかし、</a:t>
            </a:r>
            <a:endParaRPr lang="en-US" altLang="ja-JP" b="1"/>
          </a:p>
          <a:p>
            <a:r>
              <a:rPr lang="ja-JP" altLang="en-US" b="1"/>
              <a:t>掘る・埋めるなどの操作を駆使して</a:t>
            </a:r>
            <a:endParaRPr lang="en-US" altLang="ja-JP" b="1"/>
          </a:p>
          <a:p>
            <a:r>
              <a:rPr lang="ja-JP" altLang="en-US" b="1"/>
              <a:t>動きを制限できる。</a:t>
            </a:r>
            <a:endParaRPr lang="en-US" altLang="ja-JP" b="1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15B94E42-329C-5A6B-2835-8CAF58F24641}"/>
              </a:ext>
            </a:extLst>
          </p:cNvPr>
          <p:cNvSpPr txBox="1"/>
          <p:nvPr/>
        </p:nvSpPr>
        <p:spPr>
          <a:xfrm>
            <a:off x="5204286" y="4118776"/>
            <a:ext cx="2159075" cy="25916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b="1"/>
              <a:t>③</a:t>
            </a:r>
            <a:endParaRPr lang="en-US" altLang="ja-JP" b="1"/>
          </a:p>
          <a:p>
            <a:endParaRPr lang="en-US" altLang="ja-JP" b="1"/>
          </a:p>
          <a:p>
            <a:r>
              <a:rPr kumimoji="1" lang="ja-JP" altLang="en-US" b="1"/>
              <a:t>ドリルにはタイムマシン機能が</a:t>
            </a:r>
            <a:r>
              <a:rPr lang="ja-JP" altLang="en-US" b="1"/>
              <a:t>搭載されている。</a:t>
            </a:r>
            <a:endParaRPr kumimoji="1" lang="en-US" altLang="ja-JP" b="1"/>
          </a:p>
          <a:p>
            <a:endParaRPr lang="en-US" altLang="ja-JP" b="1"/>
          </a:p>
          <a:p>
            <a:r>
              <a:rPr kumimoji="1" lang="ja-JP" altLang="en-US" b="1"/>
              <a:t>時代特有の敵や</a:t>
            </a:r>
            <a:endParaRPr kumimoji="1" lang="en-US" altLang="ja-JP" b="1"/>
          </a:p>
          <a:p>
            <a:r>
              <a:rPr kumimoji="1" lang="ja-JP" altLang="en-US" b="1"/>
              <a:t>ギミックがあなたに襲い掛かる。</a:t>
            </a:r>
            <a:endParaRPr kumimoji="1" lang="en-US" altLang="ja-JP" b="1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F5D57C0-3F48-EE1B-5022-B8C7889DBF34}"/>
              </a:ext>
            </a:extLst>
          </p:cNvPr>
          <p:cNvSpPr txBox="1"/>
          <p:nvPr/>
        </p:nvSpPr>
        <p:spPr>
          <a:xfrm>
            <a:off x="7580871" y="3624487"/>
            <a:ext cx="1641786" cy="462791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操作方法</a:t>
            </a:r>
            <a:endParaRPr kumimoji="1" lang="ja-JP" altLang="en-US" sz="240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88CAC82-3F83-3093-623D-7BDFCB439B8C}"/>
              </a:ext>
            </a:extLst>
          </p:cNvPr>
          <p:cNvSpPr txBox="1"/>
          <p:nvPr/>
        </p:nvSpPr>
        <p:spPr>
          <a:xfrm>
            <a:off x="9589474" y="6147312"/>
            <a:ext cx="2338100" cy="52449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400" b="1"/>
              <a:t>右スティック：掘る方向を</a:t>
            </a:r>
            <a:endParaRPr kumimoji="1" lang="en-US" altLang="ja-JP" sz="1400" b="1"/>
          </a:p>
          <a:p>
            <a:r>
              <a:rPr lang="ja-JP" altLang="en-US" sz="1400" b="1"/>
              <a:t>　　　　　　　決める</a:t>
            </a:r>
            <a:endParaRPr kumimoji="1" lang="ja-JP" altLang="en-US" sz="1400" b="1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22E5924E-5C49-F991-DD3B-FC4F6C2D0AD5}"/>
              </a:ext>
            </a:extLst>
          </p:cNvPr>
          <p:cNvCxnSpPr>
            <a:cxnSpLocks/>
          </p:cNvCxnSpPr>
          <p:nvPr/>
        </p:nvCxnSpPr>
        <p:spPr>
          <a:xfrm>
            <a:off x="7942549" y="4600336"/>
            <a:ext cx="1267818" cy="85600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>
            <a:extLst>
              <a:ext uri="{FF2B5EF4-FFF2-40B4-BE49-F238E27FC236}">
                <a16:creationId xmlns:a16="http://schemas.microsoft.com/office/drawing/2014/main" id="{8E4D2008-591F-8816-47D6-F3E9037B2D1B}"/>
              </a:ext>
            </a:extLst>
          </p:cNvPr>
          <p:cNvCxnSpPr>
            <a:cxnSpLocks/>
          </p:cNvCxnSpPr>
          <p:nvPr/>
        </p:nvCxnSpPr>
        <p:spPr>
          <a:xfrm flipH="1">
            <a:off x="10084089" y="4609423"/>
            <a:ext cx="289" cy="44185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C90FF968-CD68-C20A-6EDF-59C4C5CB5AEC}"/>
              </a:ext>
            </a:extLst>
          </p:cNvPr>
          <p:cNvCxnSpPr>
            <a:cxnSpLocks/>
            <a:stCxn id="21" idx="0"/>
          </p:cNvCxnSpPr>
          <p:nvPr/>
        </p:nvCxnSpPr>
        <p:spPr>
          <a:xfrm flipH="1" flipV="1">
            <a:off x="9977119" y="5417741"/>
            <a:ext cx="781405" cy="72957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B238F85D-EE04-5748-E259-E482E9D6302E}"/>
              </a:ext>
            </a:extLst>
          </p:cNvPr>
          <p:cNvCxnSpPr>
            <a:cxnSpLocks/>
          </p:cNvCxnSpPr>
          <p:nvPr/>
        </p:nvCxnSpPr>
        <p:spPr>
          <a:xfrm>
            <a:off x="7933933" y="4609917"/>
            <a:ext cx="1451330" cy="428747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67481490-CC4D-B996-C929-EF4952372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7910" y="363516"/>
            <a:ext cx="4633405" cy="3065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83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2F700CF-E89D-FE14-56CB-CF377F60E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707" y="934012"/>
            <a:ext cx="11869063" cy="50356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altLang="ja-JP" dirty="0"/>
          </a:p>
          <a:p>
            <a:r>
              <a:rPr lang="ja-JP" altLang="en-US">
                <a:ea typeface="BIZ UDPゴシック"/>
              </a:rPr>
              <a:t>今までにない　</a:t>
            </a:r>
            <a:r>
              <a:rPr lang="en-US" altLang="ja-JP" b="1">
                <a:ea typeface="游ゴシック"/>
              </a:rPr>
              <a:t>“</a:t>
            </a:r>
            <a:r>
              <a:rPr lang="ja-JP" altLang="en-US" b="1" u="sng">
                <a:ea typeface="BIZ UDPゴシック"/>
              </a:rPr>
              <a:t>掘って敵の隙を突く</a:t>
            </a:r>
            <a:r>
              <a:rPr lang="en-US" altLang="ja-JP" b="1">
                <a:ea typeface="游ゴシック"/>
              </a:rPr>
              <a:t>”</a:t>
            </a:r>
            <a:r>
              <a:rPr lang="ja-JP" altLang="en-US">
                <a:ea typeface="BIZ UDPゴシック"/>
              </a:rPr>
              <a:t>ステルスアクションゲーム</a:t>
            </a:r>
            <a:endParaRPr lang="en-US" altLang="ja-JP">
              <a:ea typeface="BIZ UDPゴシック"/>
            </a:endParaRPr>
          </a:p>
          <a:p>
            <a:pPr marL="0" indent="0">
              <a:buNone/>
            </a:pPr>
            <a:r>
              <a:rPr lang="ja-JP" altLang="en-US" sz="1700">
                <a:ea typeface="BIZ UDPゴシック"/>
              </a:rPr>
              <a:t>・・・敵に見つからないように地上と地下を行き来して、ゴール地点を目指す。</a:t>
            </a:r>
            <a:endParaRPr lang="en-US" altLang="ja-JP" sz="1700">
              <a:ea typeface="BIZ UDPゴシック"/>
            </a:endParaRPr>
          </a:p>
          <a:p>
            <a:pPr marL="0" indent="0">
              <a:buNone/>
            </a:pPr>
            <a:r>
              <a:rPr lang="ja-JP" altLang="en-US" sz="1700">
                <a:ea typeface="BIZ UDPゴシック"/>
              </a:rPr>
              <a:t>ハラハラドキドキを楽しめる。</a:t>
            </a:r>
            <a:endParaRPr lang="en-US" altLang="ja-JP">
              <a:ea typeface="BIZ UDPゴシック"/>
            </a:endParaRPr>
          </a:p>
          <a:p>
            <a:r>
              <a:rPr lang="ja-JP" altLang="en-US">
                <a:ea typeface="BIZ UDPゴシック"/>
              </a:rPr>
              <a:t>＠宝を見つけて使用し、　</a:t>
            </a:r>
            <a:r>
              <a:rPr lang="en-US" altLang="ja-JP" b="1">
                <a:ea typeface="游ゴシック"/>
              </a:rPr>
              <a:t>“</a:t>
            </a:r>
            <a:r>
              <a:rPr lang="ja-JP" altLang="en-US" b="1" u="sng">
                <a:solidFill>
                  <a:schemeClr val="accent1">
                    <a:lumMod val="60000"/>
                    <a:lumOff val="40000"/>
                  </a:schemeClr>
                </a:solidFill>
                <a:ea typeface="BIZ UDPゴシック"/>
              </a:rPr>
              <a:t>過去にタイムトラベルをする</a:t>
            </a:r>
            <a:r>
              <a:rPr lang="en-US" altLang="ja-JP" b="1">
                <a:ea typeface="游ゴシック"/>
              </a:rPr>
              <a:t>”</a:t>
            </a:r>
            <a:r>
              <a:rPr lang="ja-JP" altLang="en-US">
                <a:ea typeface="BIZ UDPゴシック"/>
              </a:rPr>
              <a:t>　システム</a:t>
            </a:r>
            <a:endParaRPr lang="en-US">
              <a:ea typeface="BIZ UDPゴシック"/>
            </a:endParaRPr>
          </a:p>
          <a:p>
            <a:pPr marL="0" indent="0">
              <a:buNone/>
            </a:pPr>
            <a:r>
              <a:rPr lang="ja-JP" altLang="en-US" sz="1700">
                <a:ea typeface="BIZ UDPゴシック"/>
              </a:rPr>
              <a:t>・・・あなたは滅び行く未来を後にし、過去に行く。しかし過去に行くのは違法であるためタイムパトロールに</a:t>
            </a:r>
            <a:endParaRPr lang="en-US" altLang="ja-JP" sz="1700">
              <a:ea typeface="BIZ UDPゴシック"/>
            </a:endParaRPr>
          </a:p>
          <a:p>
            <a:pPr marL="0" indent="0">
              <a:buNone/>
            </a:pPr>
            <a:r>
              <a:rPr lang="ja-JP" altLang="en-US" sz="1700">
                <a:ea typeface="BIZ UDPゴシック"/>
              </a:rPr>
              <a:t>目をつけられてしまう。とにかく基本は過去に行く事を目標にするゲームです。</a:t>
            </a:r>
            <a:endParaRPr lang="en-US">
              <a:ea typeface="BIZ UDPゴシック"/>
            </a:endParaRPr>
          </a:p>
          <a:p>
            <a:r>
              <a:rPr lang="ja-JP" altLang="en-US">
                <a:ea typeface="BIZ UDPゴシック"/>
              </a:rPr>
              <a:t>戦略性のある　　</a:t>
            </a:r>
            <a:r>
              <a:rPr lang="en-US" altLang="ja-JP" b="1">
                <a:ea typeface="游ゴシック"/>
              </a:rPr>
              <a:t>“</a:t>
            </a:r>
            <a:r>
              <a:rPr lang="ja-JP" altLang="en-US" b="1" u="sng">
                <a:solidFill>
                  <a:schemeClr val="accent2"/>
                </a:solidFill>
                <a:ea typeface="BIZ UDPゴシック"/>
              </a:rPr>
              <a:t>パズルゲーム</a:t>
            </a:r>
            <a:r>
              <a:rPr lang="en-US" altLang="ja-JP" b="1">
                <a:ea typeface="游ゴシック"/>
              </a:rPr>
              <a:t>”</a:t>
            </a:r>
            <a:r>
              <a:rPr lang="ja-JP" altLang="en-US" sz="1200">
                <a:ea typeface="BIZ UDPゴシック"/>
              </a:rPr>
              <a:t>（多少なアクションあり）</a:t>
            </a:r>
            <a:endParaRPr lang="en-US" altLang="ja-JP" sz="1200">
              <a:ea typeface="BIZ UDPゴシック"/>
            </a:endParaRPr>
          </a:p>
          <a:p>
            <a:pPr marL="0" indent="0">
              <a:buNone/>
            </a:pPr>
            <a:r>
              <a:rPr lang="ja-JP" altLang="en-US" sz="1600">
                <a:ea typeface="BIZ UDPゴシック"/>
              </a:rPr>
              <a:t>・・・タイムパトロールがあなたを探し回っているので、速やかに隠れろ・・・。</a:t>
            </a:r>
            <a:endParaRPr lang="en-US" altLang="ja-JP" sz="1600">
              <a:ea typeface="BIZ UDPゴシック"/>
            </a:endParaRPr>
          </a:p>
          <a:p>
            <a:pPr marL="0" indent="0">
              <a:buNone/>
            </a:pPr>
            <a:r>
              <a:rPr lang="ja-JP" altLang="en-US" sz="1600">
                <a:ea typeface="BIZ UDPゴシック"/>
              </a:rPr>
              <a:t>①見つかったらタイムパラドックスにより消滅してしまう</a:t>
            </a:r>
            <a:endParaRPr lang="en-US" altLang="ja-JP" sz="1600">
              <a:ea typeface="BIZ UDPゴシック"/>
            </a:endParaRPr>
          </a:p>
          <a:p>
            <a:pPr marL="0" indent="0">
              <a:buNone/>
            </a:pPr>
            <a:r>
              <a:rPr lang="ja-JP" altLang="en-US" sz="1600">
                <a:ea typeface="BIZ UDPゴシック"/>
              </a:rPr>
              <a:t>➁どうタイムパトロールから逃れることができるか普通のゲームでは無い、戦略＆アクションパズルゲームです。</a:t>
            </a:r>
            <a:endParaRPr lang="en-US" sz="1600">
              <a:ea typeface="BIZ UDPゴシック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489B68E1-740E-CDA7-5008-8493376737CD}"/>
              </a:ext>
            </a:extLst>
          </p:cNvPr>
          <p:cNvSpPr/>
          <p:nvPr/>
        </p:nvSpPr>
        <p:spPr>
          <a:xfrm>
            <a:off x="176708" y="6090063"/>
            <a:ext cx="11869063" cy="69370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l"/>
            <a:r>
              <a:rPr lang="ja-JP" altLang="en-US" dirty="0">
                <a:ea typeface="游ゴシック"/>
              </a:rPr>
              <a:t>このゲームは、滅ぶ世界（</a:t>
            </a:r>
            <a:r>
              <a:rPr lang="ja-JP" altLang="en-US" dirty="0">
                <a:solidFill>
                  <a:srgbClr val="00B050"/>
                </a:solidFill>
                <a:ea typeface="游ゴシック"/>
              </a:rPr>
              <a:t>未来</a:t>
            </a:r>
            <a:r>
              <a:rPr lang="ja-JP" altLang="en-US" dirty="0">
                <a:ea typeface="游ゴシック"/>
              </a:rPr>
              <a:t>）から逃げるためにこの世界では違法なタイムトラベルをした</a:t>
            </a:r>
            <a:endParaRPr lang="en-US" altLang="ja-JP" dirty="0">
              <a:ea typeface="游ゴシック"/>
            </a:endParaRPr>
          </a:p>
          <a:p>
            <a:pPr algn="l"/>
            <a:r>
              <a:rPr lang="ja-JP" altLang="en-US" dirty="0">
                <a:ea typeface="游ゴシック"/>
              </a:rPr>
              <a:t>プレイヤー（</a:t>
            </a:r>
            <a:r>
              <a:rPr lang="ja-JP" altLang="en-US" dirty="0">
                <a:solidFill>
                  <a:srgbClr val="00B0F0"/>
                </a:solidFill>
                <a:ea typeface="游ゴシック"/>
              </a:rPr>
              <a:t>あなた</a:t>
            </a:r>
            <a:r>
              <a:rPr lang="ja-JP" altLang="en-US" dirty="0">
                <a:ea typeface="游ゴシック"/>
              </a:rPr>
              <a:t>）はタイムパトロールから逃げ切ると言った</a:t>
            </a:r>
            <a:r>
              <a:rPr lang="ja-JP" altLang="en-US" dirty="0">
                <a:solidFill>
                  <a:srgbClr val="FF0000"/>
                </a:solidFill>
                <a:ea typeface="游ゴシック"/>
              </a:rPr>
              <a:t>ステルスアクションパズルゲーム</a:t>
            </a:r>
            <a:r>
              <a:rPr lang="ja-JP" altLang="en-US" dirty="0">
                <a:ea typeface="游ゴシック"/>
              </a:rPr>
              <a:t>です。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D637B25-747C-2260-1BE8-DB20126B1B9B}"/>
              </a:ext>
            </a:extLst>
          </p:cNvPr>
          <p:cNvSpPr txBox="1"/>
          <p:nvPr/>
        </p:nvSpPr>
        <p:spPr>
          <a:xfrm>
            <a:off x="0" y="-15683"/>
            <a:ext cx="3465576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セールスポイント</a:t>
            </a:r>
            <a:endParaRPr kumimoji="1" lang="ja-JP" altLang="en-US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2074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CE813D-E097-D8B3-C1DA-2714196ED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8210" y="1714498"/>
            <a:ext cx="5143501" cy="2907633"/>
          </a:xfrm>
          <a:prstGeom prst="rect">
            <a:avLst/>
          </a:prstGeom>
        </p:spPr>
      </p:pic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7212F60-4EDC-0F98-0451-426696C7267A}"/>
              </a:ext>
            </a:extLst>
          </p:cNvPr>
          <p:cNvSpPr/>
          <p:nvPr/>
        </p:nvSpPr>
        <p:spPr>
          <a:xfrm>
            <a:off x="8344476" y="-69273"/>
            <a:ext cx="3775363" cy="255154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C8968B0-32EF-8F9A-0546-B226322FF1F0}"/>
              </a:ext>
            </a:extLst>
          </p:cNvPr>
          <p:cNvSpPr/>
          <p:nvPr/>
        </p:nvSpPr>
        <p:spPr>
          <a:xfrm>
            <a:off x="3276022" y="4837543"/>
            <a:ext cx="4999182" cy="199736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A81F138-7577-A002-7231-950D091AA944}"/>
              </a:ext>
            </a:extLst>
          </p:cNvPr>
          <p:cNvSpPr/>
          <p:nvPr/>
        </p:nvSpPr>
        <p:spPr>
          <a:xfrm>
            <a:off x="-2887" y="3498271"/>
            <a:ext cx="2817091" cy="294409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BF1D4B33-00F0-CBAC-318B-EB6199B36E5B}"/>
              </a:ext>
            </a:extLst>
          </p:cNvPr>
          <p:cNvSpPr/>
          <p:nvPr/>
        </p:nvSpPr>
        <p:spPr>
          <a:xfrm>
            <a:off x="-14433" y="865908"/>
            <a:ext cx="2828636" cy="2551545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CA215FB-6522-631F-8A11-054636DE6DE0}"/>
              </a:ext>
            </a:extLst>
          </p:cNvPr>
          <p:cNvSpPr/>
          <p:nvPr/>
        </p:nvSpPr>
        <p:spPr>
          <a:xfrm>
            <a:off x="8491681" y="3030679"/>
            <a:ext cx="3636819" cy="3798456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50EE87B-AD72-E048-C8ED-D7D07B7C413D}"/>
              </a:ext>
            </a:extLst>
          </p:cNvPr>
          <p:cNvSpPr/>
          <p:nvPr/>
        </p:nvSpPr>
        <p:spPr>
          <a:xfrm>
            <a:off x="8941954" y="4052453"/>
            <a:ext cx="2759364" cy="923636"/>
          </a:xfrm>
          <a:prstGeom prst="round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E475E2-A97B-1204-1179-C4C6390F8785}"/>
              </a:ext>
            </a:extLst>
          </p:cNvPr>
          <p:cNvSpPr txBox="1"/>
          <p:nvPr/>
        </p:nvSpPr>
        <p:spPr>
          <a:xfrm>
            <a:off x="63500" y="1171863"/>
            <a:ext cx="2574635" cy="121187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3600" b="1">
                <a:ea typeface="游ゴシック"/>
                <a:cs typeface="Calibri"/>
              </a:rPr>
              <a:t>より高い</a:t>
            </a:r>
            <a:endParaRPr lang="en-US" altLang="ja-JP" sz="3600" b="1">
              <a:ea typeface="游ゴシック"/>
              <a:cs typeface="Calibri"/>
            </a:endParaRPr>
          </a:p>
          <a:p>
            <a:pPr algn="l"/>
            <a:r>
              <a:rPr lang="ja-JP" altLang="en-US" sz="3600" b="1">
                <a:ea typeface="游ゴシック"/>
                <a:cs typeface="Calibri"/>
              </a:rPr>
              <a:t>スコアを！</a:t>
            </a:r>
            <a:endParaRPr lang="en-US" sz="3600" b="1">
              <a:cs typeface="Calibri" panose="020F050202020403020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9244C0-D9F3-0AF8-30C0-A9EC21610C2D}"/>
              </a:ext>
            </a:extLst>
          </p:cNvPr>
          <p:cNvSpPr txBox="1"/>
          <p:nvPr/>
        </p:nvSpPr>
        <p:spPr>
          <a:xfrm>
            <a:off x="8526316" y="34637"/>
            <a:ext cx="3411682" cy="124650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ja-JP" sz="3600" b="1" err="1">
                <a:ea typeface="游ゴシック"/>
                <a:cs typeface="Calibri"/>
              </a:rPr>
              <a:t>ステージごとの</a:t>
            </a:r>
            <a:endParaRPr lang="en-US" altLang="ja-JP" sz="3600" b="1">
              <a:ea typeface="游ゴシック"/>
              <a:cs typeface="Calibri"/>
            </a:endParaRPr>
          </a:p>
          <a:p>
            <a:pPr algn="l"/>
            <a:r>
              <a:rPr lang="en-US" altLang="ja-JP" sz="3600" b="1" err="1">
                <a:ea typeface="游ゴシック"/>
                <a:cs typeface="Calibri"/>
              </a:rPr>
              <a:t>ミッション</a:t>
            </a:r>
            <a:endParaRPr lang="en-US" altLang="ja-JP" sz="3600" b="1">
              <a:ea typeface="游ゴシック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A19448-1FB2-7CA1-6178-A469754003C7}"/>
              </a:ext>
            </a:extLst>
          </p:cNvPr>
          <p:cNvSpPr txBox="1"/>
          <p:nvPr/>
        </p:nvSpPr>
        <p:spPr>
          <a:xfrm>
            <a:off x="121227" y="3821545"/>
            <a:ext cx="2563090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sz="3600" b="1">
                <a:latin typeface="游ゴシック"/>
                <a:ea typeface="游ゴシック"/>
                <a:cs typeface="Arial"/>
              </a:rPr>
              <a:t>各地に</a:t>
            </a:r>
            <a:endParaRPr lang="ja-JP" altLang="en-US" sz="3600" b="1">
              <a:latin typeface="游ゴシック"/>
              <a:ea typeface="游ゴシック"/>
              <a:cs typeface="Arial"/>
            </a:endParaRPr>
          </a:p>
          <a:p>
            <a:pPr algn="l"/>
            <a:r>
              <a:rPr lang="ja-JP" altLang="en-US" sz="3600" b="1">
                <a:latin typeface="游ゴシック"/>
                <a:ea typeface="游ゴシック"/>
                <a:cs typeface="Arial"/>
              </a:rPr>
              <a:t>散</a:t>
            </a:r>
            <a:r>
              <a:rPr lang="ja-JP" sz="3600" b="1">
                <a:latin typeface="游ゴシック"/>
                <a:ea typeface="游ゴシック"/>
                <a:cs typeface="Arial"/>
              </a:rPr>
              <a:t>らば</a:t>
            </a:r>
            <a:r>
              <a:rPr lang="ja-JP" altLang="en-US" sz="3600" b="1">
                <a:latin typeface="游ゴシック"/>
                <a:ea typeface="游ゴシック"/>
                <a:cs typeface="Arial"/>
              </a:rPr>
              <a:t>る</a:t>
            </a:r>
            <a:r>
              <a:rPr lang="ja-JP" sz="3600" b="1" baseline="0">
                <a:latin typeface="游ゴシック"/>
                <a:ea typeface="游ゴシック"/>
                <a:cs typeface="Arial"/>
              </a:rPr>
              <a:t>宝</a:t>
            </a:r>
            <a:endParaRPr lang="ja-JP" altLang="en-US" sz="3600" b="1">
              <a:latin typeface="游ゴシック"/>
              <a:ea typeface="游ゴシック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322E97-346B-8399-6845-A949C4B52E57}"/>
              </a:ext>
            </a:extLst>
          </p:cNvPr>
          <p:cNvSpPr txBox="1"/>
          <p:nvPr/>
        </p:nvSpPr>
        <p:spPr>
          <a:xfrm>
            <a:off x="3708976" y="4918363"/>
            <a:ext cx="4208317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600" b="1">
                <a:ea typeface="游ゴシック"/>
                <a:cs typeface="Calibri"/>
              </a:rPr>
              <a:t>複数の攻略ルート</a:t>
            </a:r>
            <a:endParaRPr lang="en-US" sz="3600" b="1">
              <a:cs typeface="Calibri"/>
            </a:endParaRPr>
          </a:p>
        </p:txBody>
      </p:sp>
      <p:sp>
        <p:nvSpPr>
          <p:cNvPr id="9" name="Star: 5 Points 8">
            <a:extLst>
              <a:ext uri="{FF2B5EF4-FFF2-40B4-BE49-F238E27FC236}">
                <a16:creationId xmlns:a16="http://schemas.microsoft.com/office/drawing/2014/main" id="{2B59F77E-A176-251F-5121-1065C542528A}"/>
              </a:ext>
            </a:extLst>
          </p:cNvPr>
          <p:cNvSpPr/>
          <p:nvPr/>
        </p:nvSpPr>
        <p:spPr>
          <a:xfrm>
            <a:off x="9216158" y="4263158"/>
            <a:ext cx="542636" cy="50800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0" name="Star: 5 Points 9">
            <a:extLst>
              <a:ext uri="{FF2B5EF4-FFF2-40B4-BE49-F238E27FC236}">
                <a16:creationId xmlns:a16="http://schemas.microsoft.com/office/drawing/2014/main" id="{AFA77C11-5E2E-1A34-F9B1-E101659A199D}"/>
              </a:ext>
            </a:extLst>
          </p:cNvPr>
          <p:cNvSpPr/>
          <p:nvPr/>
        </p:nvSpPr>
        <p:spPr>
          <a:xfrm>
            <a:off x="10035885" y="4263158"/>
            <a:ext cx="542636" cy="508000"/>
          </a:xfrm>
          <a:prstGeom prst="star5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1" name="Star: 5 Points 10">
            <a:extLst>
              <a:ext uri="{FF2B5EF4-FFF2-40B4-BE49-F238E27FC236}">
                <a16:creationId xmlns:a16="http://schemas.microsoft.com/office/drawing/2014/main" id="{BF0B6B5F-DFF6-4B1B-908C-56E37D5E2E18}"/>
              </a:ext>
            </a:extLst>
          </p:cNvPr>
          <p:cNvSpPr/>
          <p:nvPr/>
        </p:nvSpPr>
        <p:spPr>
          <a:xfrm>
            <a:off x="10832521" y="4263157"/>
            <a:ext cx="542636" cy="508000"/>
          </a:xfrm>
          <a:prstGeom prst="star5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2F4AB59-8B03-290D-478D-465657DE8C7D}"/>
              </a:ext>
            </a:extLst>
          </p:cNvPr>
          <p:cNvSpPr/>
          <p:nvPr/>
        </p:nvSpPr>
        <p:spPr>
          <a:xfrm>
            <a:off x="8739910" y="3264476"/>
            <a:ext cx="3163454" cy="669636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solidFill>
                  <a:schemeClr val="tx1"/>
                </a:solidFill>
                <a:ea typeface="游ゴシック"/>
                <a:cs typeface="Calibri"/>
              </a:rPr>
              <a:t>スコア</a:t>
            </a:r>
          </a:p>
          <a:p>
            <a:pPr algn="ctr"/>
            <a:r>
              <a:rPr lang="ja-JP" altLang="en-US">
                <a:solidFill>
                  <a:schemeClr val="tx1"/>
                </a:solidFill>
                <a:ea typeface="游ゴシック"/>
                <a:cs typeface="Calibri"/>
              </a:rPr>
              <a:t>◇２０３００◇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EFC1E7D-A7E8-E169-BF3B-DCCEE3571CAE}"/>
              </a:ext>
            </a:extLst>
          </p:cNvPr>
          <p:cNvSpPr/>
          <p:nvPr/>
        </p:nvSpPr>
        <p:spPr>
          <a:xfrm>
            <a:off x="8742796" y="5227203"/>
            <a:ext cx="3175000" cy="143163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cs typeface="Calibri"/>
              </a:rPr>
              <a:t>・</a:t>
            </a:r>
            <a:r>
              <a:rPr lang="en-US" altLang="ja-JP">
                <a:solidFill>
                  <a:schemeClr val="tx1"/>
                </a:solidFill>
                <a:ea typeface="游ゴシック"/>
                <a:cs typeface="Calibri"/>
              </a:rPr>
              <a:t>★</a:t>
            </a:r>
            <a:r>
              <a:rPr lang="ja-JP" altLang="en-US">
                <a:solidFill>
                  <a:schemeClr val="tx1"/>
                </a:solidFill>
                <a:ea typeface="游ゴシック"/>
                <a:cs typeface="Calibri"/>
              </a:rPr>
              <a:t>５分以内にクリア　　　</a:t>
            </a:r>
            <a:endParaRPr lang="en-US">
              <a:solidFill>
                <a:schemeClr val="tx1"/>
              </a:solidFill>
              <a:ea typeface="游ゴシック"/>
              <a:cs typeface="Calibri"/>
            </a:endParaRPr>
          </a:p>
          <a:p>
            <a:pPr algn="ctr"/>
            <a:r>
              <a:rPr lang="en-US">
                <a:solidFill>
                  <a:schemeClr val="tx1"/>
                </a:solidFill>
                <a:cs typeface="Calibri"/>
              </a:rPr>
              <a:t>・</a:t>
            </a:r>
            <a:r>
              <a:rPr lang="en-US" altLang="ja-JP">
                <a:solidFill>
                  <a:schemeClr val="tx1"/>
                </a:solidFill>
                <a:ea typeface="游ゴシック"/>
                <a:cs typeface="Calibri"/>
              </a:rPr>
              <a:t>★</a:t>
            </a:r>
            <a:r>
              <a:rPr lang="ja-JP" altLang="en-US">
                <a:solidFill>
                  <a:schemeClr val="tx1"/>
                </a:solidFill>
                <a:ea typeface="游ゴシック"/>
                <a:cs typeface="Calibri"/>
              </a:rPr>
              <a:t>掘った回数が２５回以内</a:t>
            </a:r>
          </a:p>
          <a:p>
            <a:pPr algn="ctr"/>
            <a:r>
              <a:rPr lang="ja-JP" altLang="en-US">
                <a:solidFill>
                  <a:schemeClr val="tx1"/>
                </a:solidFill>
                <a:ea typeface="游ゴシック"/>
                <a:cs typeface="Calibri"/>
              </a:rPr>
              <a:t>・☆秘密の通路を発見　　　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AA88EF-5ED0-86D8-CF3B-EB1491F8A317}"/>
              </a:ext>
            </a:extLst>
          </p:cNvPr>
          <p:cNvSpPr txBox="1"/>
          <p:nvPr/>
        </p:nvSpPr>
        <p:spPr>
          <a:xfrm>
            <a:off x="7262090" y="1754908"/>
            <a:ext cx="681181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00">
                <a:cs typeface="Calibri"/>
              </a:rPr>
              <a:t>１０００</a:t>
            </a:r>
          </a:p>
          <a:p>
            <a:endParaRPr lang="en-US">
              <a:cs typeface="Calibri"/>
            </a:endParaRPr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9E540899-97FC-4E68-FD05-E4591129941C}"/>
              </a:ext>
            </a:extLst>
          </p:cNvPr>
          <p:cNvSpPr/>
          <p:nvPr/>
        </p:nvSpPr>
        <p:spPr>
          <a:xfrm rot="16560000">
            <a:off x="4936626" y="-661316"/>
            <a:ext cx="242454" cy="4571998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8A7B0F-A342-939F-EAA5-D675476E6C4D}"/>
              </a:ext>
            </a:extLst>
          </p:cNvPr>
          <p:cNvSpPr txBox="1"/>
          <p:nvPr/>
        </p:nvSpPr>
        <p:spPr>
          <a:xfrm>
            <a:off x="216477" y="2387022"/>
            <a:ext cx="226579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游ゴシック"/>
                <a:cs typeface="Calibri"/>
              </a:rPr>
              <a:t>・時間経過や掘った回数によってスコアが決まる！</a:t>
            </a:r>
          </a:p>
        </p:txBody>
      </p:sp>
      <p:sp>
        <p:nvSpPr>
          <p:cNvPr id="31" name="Arrow: Down 30">
            <a:extLst>
              <a:ext uri="{FF2B5EF4-FFF2-40B4-BE49-F238E27FC236}">
                <a16:creationId xmlns:a16="http://schemas.microsoft.com/office/drawing/2014/main" id="{E51A623A-BE03-2BAA-D94E-AA1E8C63C457}"/>
              </a:ext>
            </a:extLst>
          </p:cNvPr>
          <p:cNvSpPr/>
          <p:nvPr/>
        </p:nvSpPr>
        <p:spPr>
          <a:xfrm rot="14160000" flipH="1">
            <a:off x="4023118" y="2008460"/>
            <a:ext cx="173181" cy="3186543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Down 31">
            <a:extLst>
              <a:ext uri="{FF2B5EF4-FFF2-40B4-BE49-F238E27FC236}">
                <a16:creationId xmlns:a16="http://schemas.microsoft.com/office/drawing/2014/main" id="{0E74832E-3934-189A-C96A-1FF4F864958B}"/>
              </a:ext>
            </a:extLst>
          </p:cNvPr>
          <p:cNvSpPr/>
          <p:nvPr/>
        </p:nvSpPr>
        <p:spPr>
          <a:xfrm rot="7140000">
            <a:off x="7027251" y="3908287"/>
            <a:ext cx="150091" cy="1350816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Arrow: Down 32">
            <a:extLst>
              <a:ext uri="{FF2B5EF4-FFF2-40B4-BE49-F238E27FC236}">
                <a16:creationId xmlns:a16="http://schemas.microsoft.com/office/drawing/2014/main" id="{0E0EE7A9-58FD-B368-928F-50274AFE218A}"/>
              </a:ext>
            </a:extLst>
          </p:cNvPr>
          <p:cNvSpPr/>
          <p:nvPr/>
        </p:nvSpPr>
        <p:spPr>
          <a:xfrm rot="8220000">
            <a:off x="6836416" y="2783513"/>
            <a:ext cx="150092" cy="2482268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B58099-76C4-2EC0-0F00-3E29B4D045B6}"/>
              </a:ext>
            </a:extLst>
          </p:cNvPr>
          <p:cNvSpPr txBox="1"/>
          <p:nvPr/>
        </p:nvSpPr>
        <p:spPr>
          <a:xfrm>
            <a:off x="3414570" y="5792931"/>
            <a:ext cx="506556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>
                <a:ea typeface="游ゴシック"/>
                <a:cs typeface="Calibri"/>
              </a:rPr>
              <a:t>・上のルートは宝を取れるが危険がたくさん！</a:t>
            </a:r>
          </a:p>
          <a:p>
            <a:r>
              <a:rPr lang="ja-JP" altLang="en-US">
                <a:ea typeface="游ゴシック"/>
                <a:cs typeface="Calibri"/>
              </a:rPr>
              <a:t>・下のルートは宝は取れないが比較的安全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BAA06D7-9DA9-1186-8145-72D0754AA764}"/>
              </a:ext>
            </a:extLst>
          </p:cNvPr>
          <p:cNvSpPr txBox="1"/>
          <p:nvPr/>
        </p:nvSpPr>
        <p:spPr>
          <a:xfrm>
            <a:off x="219363" y="5227204"/>
            <a:ext cx="241011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>
                <a:ea typeface="游ゴシック"/>
                <a:cs typeface="Calibri"/>
              </a:rPr>
              <a:t>・宝は取らなくてもいいが一定数無いと次のステージに進めなかったり</a:t>
            </a:r>
            <a:endParaRPr lang="ja-JP">
              <a:ea typeface="游ゴシック"/>
              <a:cs typeface="Calibri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11F9F12-0AA2-A341-8330-F72E69116906}"/>
              </a:ext>
            </a:extLst>
          </p:cNvPr>
          <p:cNvSpPr txBox="1"/>
          <p:nvPr/>
        </p:nvSpPr>
        <p:spPr>
          <a:xfrm>
            <a:off x="8529204" y="1269999"/>
            <a:ext cx="3613725" cy="121187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dirty="0">
                <a:ea typeface="游ゴシック"/>
                <a:cs typeface="Calibri"/>
              </a:rPr>
              <a:t>・ミッションをクリアすることで</a:t>
            </a:r>
            <a:endParaRPr lang="ja-JP" dirty="0">
              <a:ea typeface="游ゴシック"/>
              <a:cs typeface="Calibri"/>
            </a:endParaRPr>
          </a:p>
          <a:p>
            <a:r>
              <a:rPr lang="ja-JP" altLang="en-US" dirty="0">
                <a:ea typeface="游ゴシック"/>
                <a:cs typeface="Calibri"/>
              </a:rPr>
              <a:t>　★をゲット！</a:t>
            </a:r>
            <a:endParaRPr lang="ja-JP" dirty="0">
              <a:ea typeface="游ゴシック"/>
              <a:cs typeface="Calibri"/>
            </a:endParaRPr>
          </a:p>
          <a:p>
            <a:r>
              <a:rPr lang="ja-JP" altLang="en-US" dirty="0">
                <a:ea typeface="游ゴシック"/>
                <a:cs typeface="Calibri"/>
              </a:rPr>
              <a:t>・★をたくさん集めると</a:t>
            </a:r>
          </a:p>
          <a:p>
            <a:r>
              <a:rPr lang="ja-JP" altLang="en-US" dirty="0">
                <a:ea typeface="游ゴシック"/>
                <a:cs typeface="Calibri"/>
              </a:rPr>
              <a:t>　エクストラステージが！？</a:t>
            </a:r>
          </a:p>
        </p:txBody>
      </p:sp>
      <p:sp>
        <p:nvSpPr>
          <p:cNvPr id="41" name="Arrow: Down 40">
            <a:extLst>
              <a:ext uri="{FF2B5EF4-FFF2-40B4-BE49-F238E27FC236}">
                <a16:creationId xmlns:a16="http://schemas.microsoft.com/office/drawing/2014/main" id="{F51F33D2-C88F-C203-2EE1-948801B38C03}"/>
              </a:ext>
            </a:extLst>
          </p:cNvPr>
          <p:cNvSpPr/>
          <p:nvPr/>
        </p:nvSpPr>
        <p:spPr>
          <a:xfrm>
            <a:off x="9949218" y="2429838"/>
            <a:ext cx="577272" cy="877454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A357DF2-793F-858B-F38E-77F4ED34950C}"/>
              </a:ext>
            </a:extLst>
          </p:cNvPr>
          <p:cNvSpPr txBox="1"/>
          <p:nvPr/>
        </p:nvSpPr>
        <p:spPr>
          <a:xfrm>
            <a:off x="0" y="-15683"/>
            <a:ext cx="3276022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リプレイバリュー</a:t>
            </a:r>
            <a:endParaRPr kumimoji="1" lang="ja-JP" altLang="en-US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582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Arrow: Bent 30">
            <a:extLst>
              <a:ext uri="{FF2B5EF4-FFF2-40B4-BE49-F238E27FC236}">
                <a16:creationId xmlns:a16="http://schemas.microsoft.com/office/drawing/2014/main" id="{5973261A-778A-9910-1DF7-245CE47E76A8}"/>
              </a:ext>
            </a:extLst>
          </p:cNvPr>
          <p:cNvSpPr/>
          <p:nvPr/>
        </p:nvSpPr>
        <p:spPr>
          <a:xfrm flipH="1">
            <a:off x="8052417" y="3428862"/>
            <a:ext cx="579665" cy="617764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Arrow: Bent 1">
            <a:extLst>
              <a:ext uri="{FF2B5EF4-FFF2-40B4-BE49-F238E27FC236}">
                <a16:creationId xmlns:a16="http://schemas.microsoft.com/office/drawing/2014/main" id="{688BEC73-07C6-2512-8BE9-6AFE5EF46575}"/>
              </a:ext>
            </a:extLst>
          </p:cNvPr>
          <p:cNvSpPr/>
          <p:nvPr/>
        </p:nvSpPr>
        <p:spPr>
          <a:xfrm>
            <a:off x="3017776" y="3559492"/>
            <a:ext cx="625926" cy="177164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6A22B461-71DF-4790-BC85-CF57505031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245" y="4400550"/>
            <a:ext cx="1989364" cy="1197428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3BC0AA50-F5D8-6ED7-689C-90B82094A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2798" y="218510"/>
            <a:ext cx="1586593" cy="1514873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D744ED0-5EA3-D209-38A0-337A92081E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854" y="653142"/>
            <a:ext cx="1000126" cy="1013733"/>
          </a:xfrm>
          <a:prstGeom prst="rect">
            <a:avLst/>
          </a:prstGeom>
        </p:spPr>
      </p:pic>
      <p:pic>
        <p:nvPicPr>
          <p:cNvPr id="53" name="Picture 52" descr="Qf - Quest Failed Monster Hunter, HD Png Download - vhv">
            <a:extLst>
              <a:ext uri="{FF2B5EF4-FFF2-40B4-BE49-F238E27FC236}">
                <a16:creationId xmlns:a16="http://schemas.microsoft.com/office/drawing/2014/main" id="{B05C4A40-E153-A477-D00D-0E86D1082D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7763" y="4146443"/>
            <a:ext cx="1436915" cy="1607669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F306FB0-0BFC-6982-C091-78669C63F348}"/>
              </a:ext>
            </a:extLst>
          </p:cNvPr>
          <p:cNvSpPr/>
          <p:nvPr/>
        </p:nvSpPr>
        <p:spPr>
          <a:xfrm>
            <a:off x="8683398" y="5606142"/>
            <a:ext cx="2585356" cy="103414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FFD03EB5-6E28-5C0E-8ECF-3DD93C998322}"/>
              </a:ext>
            </a:extLst>
          </p:cNvPr>
          <p:cNvGrpSpPr/>
          <p:nvPr/>
        </p:nvGrpSpPr>
        <p:grpSpPr>
          <a:xfrm>
            <a:off x="4624136" y="2022022"/>
            <a:ext cx="2727336" cy="849085"/>
            <a:chOff x="1570264" y="3028950"/>
            <a:chExt cx="1794223" cy="522514"/>
          </a:xfrm>
        </p:grpSpPr>
        <p:sp>
          <p:nvSpPr>
            <p:cNvPr id="23" name="フローチャート: 処理 22">
              <a:extLst>
                <a:ext uri="{FF2B5EF4-FFF2-40B4-BE49-F238E27FC236}">
                  <a16:creationId xmlns:a16="http://schemas.microsoft.com/office/drawing/2014/main" id="{8E672619-7A57-4B8B-6227-EE6BA9413AFD}"/>
                </a:ext>
              </a:extLst>
            </p:cNvPr>
            <p:cNvSpPr/>
            <p:nvPr/>
          </p:nvSpPr>
          <p:spPr>
            <a:xfrm>
              <a:off x="1570264" y="3028950"/>
              <a:ext cx="1741714" cy="522514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7EEAFB7E-93F6-EB14-D8EC-D28A9121DED7}"/>
                </a:ext>
              </a:extLst>
            </p:cNvPr>
            <p:cNvSpPr txBox="1"/>
            <p:nvPr/>
          </p:nvSpPr>
          <p:spPr>
            <a:xfrm>
              <a:off x="1649987" y="3093479"/>
              <a:ext cx="1714500" cy="25958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ja-JP" altLang="en-US" sz="2800">
                  <a:ea typeface="游ゴシック"/>
                </a:rPr>
                <a:t>ステージ選択</a:t>
              </a:r>
            </a:p>
          </p:txBody>
        </p:sp>
      </p:grpSp>
      <p:sp>
        <p:nvSpPr>
          <p:cNvPr id="26" name="矢印: 下 25">
            <a:extLst>
              <a:ext uri="{FF2B5EF4-FFF2-40B4-BE49-F238E27FC236}">
                <a16:creationId xmlns:a16="http://schemas.microsoft.com/office/drawing/2014/main" id="{EFFB634A-8DA2-6802-B1C4-36207A805729}"/>
              </a:ext>
            </a:extLst>
          </p:cNvPr>
          <p:cNvSpPr/>
          <p:nvPr/>
        </p:nvSpPr>
        <p:spPr>
          <a:xfrm>
            <a:off x="5578927" y="2675164"/>
            <a:ext cx="655863" cy="6803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AFEBE3EC-22CC-2593-548B-FDF0B9503E8B}"/>
              </a:ext>
            </a:extLst>
          </p:cNvPr>
          <p:cNvGrpSpPr/>
          <p:nvPr/>
        </p:nvGrpSpPr>
        <p:grpSpPr>
          <a:xfrm>
            <a:off x="4302576" y="4882243"/>
            <a:ext cx="3546020" cy="1973036"/>
            <a:chOff x="1341930" y="4236227"/>
            <a:chExt cx="1931167" cy="825500"/>
          </a:xfrm>
        </p:grpSpPr>
        <p:sp>
          <p:nvSpPr>
            <p:cNvPr id="28" name="フローチャート: 判断 27">
              <a:extLst>
                <a:ext uri="{FF2B5EF4-FFF2-40B4-BE49-F238E27FC236}">
                  <a16:creationId xmlns:a16="http://schemas.microsoft.com/office/drawing/2014/main" id="{A94707CB-3B0B-AEDE-2AA0-107D70BCBCE2}"/>
                </a:ext>
              </a:extLst>
            </p:cNvPr>
            <p:cNvSpPr/>
            <p:nvPr/>
          </p:nvSpPr>
          <p:spPr>
            <a:xfrm>
              <a:off x="1341930" y="4236227"/>
              <a:ext cx="1815286" cy="825500"/>
            </a:xfrm>
            <a:prstGeom prst="flowChartDecis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4B971D6E-CEFE-8D23-8146-84F2B0EB17AA}"/>
                </a:ext>
              </a:extLst>
            </p:cNvPr>
            <p:cNvSpPr txBox="1"/>
            <p:nvPr/>
          </p:nvSpPr>
          <p:spPr>
            <a:xfrm>
              <a:off x="1626633" y="4556580"/>
              <a:ext cx="1646464" cy="2189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ja-JP" altLang="en-US" sz="2800" b="1">
                  <a:ea typeface="游ゴシック"/>
                  <a:cs typeface="Calibri"/>
                </a:rPr>
                <a:t>クリア判定</a:t>
              </a:r>
            </a:p>
          </p:txBody>
        </p:sp>
      </p:grp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172DB4FD-E6A6-8C41-6D61-BC4EF28FA08C}"/>
              </a:ext>
            </a:extLst>
          </p:cNvPr>
          <p:cNvSpPr txBox="1"/>
          <p:nvPr/>
        </p:nvSpPr>
        <p:spPr>
          <a:xfrm>
            <a:off x="1668235" y="5753099"/>
            <a:ext cx="130628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ja-JP" altLang="en-US">
              <a:ea typeface="游ゴシック"/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6F72EC6-7353-FB90-40AC-223C5639FA5F}"/>
              </a:ext>
            </a:extLst>
          </p:cNvPr>
          <p:cNvGrpSpPr/>
          <p:nvPr/>
        </p:nvGrpSpPr>
        <p:grpSpPr>
          <a:xfrm>
            <a:off x="4816927" y="27213"/>
            <a:ext cx="1728107" cy="555171"/>
            <a:chOff x="1442357" y="462642"/>
            <a:chExt cx="1728107" cy="555171"/>
          </a:xfrm>
        </p:grpSpPr>
        <p:sp>
          <p:nvSpPr>
            <p:cNvPr id="7" name="フローチャート: 端子 6">
              <a:extLst>
                <a:ext uri="{FF2B5EF4-FFF2-40B4-BE49-F238E27FC236}">
                  <a16:creationId xmlns:a16="http://schemas.microsoft.com/office/drawing/2014/main" id="{53C51641-DEFB-430A-EA72-1AC4332EB5DC}"/>
                </a:ext>
              </a:extLst>
            </p:cNvPr>
            <p:cNvSpPr/>
            <p:nvPr/>
          </p:nvSpPr>
          <p:spPr>
            <a:xfrm>
              <a:off x="1442357" y="462642"/>
              <a:ext cx="1589314" cy="555171"/>
            </a:xfrm>
            <a:prstGeom prst="flowChartTerminator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F5142869-562C-828E-6872-353EA762413E}"/>
                </a:ext>
              </a:extLst>
            </p:cNvPr>
            <p:cNvSpPr txBox="1"/>
            <p:nvPr/>
          </p:nvSpPr>
          <p:spPr>
            <a:xfrm>
              <a:off x="1442357" y="468085"/>
              <a:ext cx="1728107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ja-JP" altLang="en-US">
                  <a:ea typeface="游ゴシック"/>
                </a:rPr>
                <a:t>タイトル画面</a:t>
              </a:r>
            </a:p>
          </p:txBody>
        </p:sp>
      </p:grpSp>
      <p:sp>
        <p:nvSpPr>
          <p:cNvPr id="5" name="Arrow: Down 4">
            <a:extLst>
              <a:ext uri="{FF2B5EF4-FFF2-40B4-BE49-F238E27FC236}">
                <a16:creationId xmlns:a16="http://schemas.microsoft.com/office/drawing/2014/main" id="{AF00D6C4-3440-5A62-F8C8-E6230FD5A956}"/>
              </a:ext>
            </a:extLst>
          </p:cNvPr>
          <p:cNvSpPr/>
          <p:nvPr/>
        </p:nvSpPr>
        <p:spPr>
          <a:xfrm>
            <a:off x="5510892" y="578304"/>
            <a:ext cx="244928" cy="35378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B8C0B7-A5C1-890D-4A46-92DFBBF95B3E}"/>
              </a:ext>
            </a:extLst>
          </p:cNvPr>
          <p:cNvSpPr/>
          <p:nvPr/>
        </p:nvSpPr>
        <p:spPr>
          <a:xfrm>
            <a:off x="4667250" y="918481"/>
            <a:ext cx="2095498" cy="68035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>
                <a:ea typeface="游ゴシック"/>
              </a:rPr>
              <a:t>メインメニュー</a:t>
            </a:r>
            <a:endParaRPr lang="en-US"/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A48E0953-D668-E5BA-6CDD-EB099B6212FA}"/>
              </a:ext>
            </a:extLst>
          </p:cNvPr>
          <p:cNvSpPr/>
          <p:nvPr/>
        </p:nvSpPr>
        <p:spPr>
          <a:xfrm>
            <a:off x="5578929" y="1666875"/>
            <a:ext cx="176892" cy="28574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34AD791-F310-5E50-6EFB-AD054B59CD61}"/>
              </a:ext>
            </a:extLst>
          </p:cNvPr>
          <p:cNvSpPr/>
          <p:nvPr/>
        </p:nvSpPr>
        <p:spPr>
          <a:xfrm>
            <a:off x="6881812" y="1251857"/>
            <a:ext cx="421821" cy="2177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5022BA-C573-01E1-D97C-7BEAEB875C49}"/>
              </a:ext>
            </a:extLst>
          </p:cNvPr>
          <p:cNvSpPr/>
          <p:nvPr/>
        </p:nvSpPr>
        <p:spPr>
          <a:xfrm>
            <a:off x="7528149" y="629329"/>
            <a:ext cx="2857500" cy="10885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2800">
                <a:ea typeface="游ゴシック"/>
              </a:rPr>
              <a:t>コレクション</a:t>
            </a:r>
            <a:endParaRPr lang="en-US" sz="28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1AF571F-6952-763C-5DE1-FB19A0A737A9}"/>
              </a:ext>
            </a:extLst>
          </p:cNvPr>
          <p:cNvSpPr/>
          <p:nvPr/>
        </p:nvSpPr>
        <p:spPr>
          <a:xfrm>
            <a:off x="1472970" y="629329"/>
            <a:ext cx="2422071" cy="10885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2800">
                <a:ea typeface="游ゴシック"/>
              </a:rPr>
              <a:t>設定画面</a:t>
            </a:r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25F392F1-5CBD-959C-AFEA-F705C6A424B5}"/>
              </a:ext>
            </a:extLst>
          </p:cNvPr>
          <p:cNvSpPr/>
          <p:nvPr/>
        </p:nvSpPr>
        <p:spPr>
          <a:xfrm>
            <a:off x="4191000" y="1289275"/>
            <a:ext cx="340178" cy="21771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グループ化 24">
            <a:extLst>
              <a:ext uri="{FF2B5EF4-FFF2-40B4-BE49-F238E27FC236}">
                <a16:creationId xmlns:a16="http://schemas.microsoft.com/office/drawing/2014/main" id="{CF197F3B-6785-49F3-B133-E664AE471152}"/>
              </a:ext>
            </a:extLst>
          </p:cNvPr>
          <p:cNvGrpSpPr/>
          <p:nvPr/>
        </p:nvGrpSpPr>
        <p:grpSpPr>
          <a:xfrm>
            <a:off x="4727121" y="3355523"/>
            <a:ext cx="2503714" cy="862691"/>
            <a:chOff x="1570264" y="3028950"/>
            <a:chExt cx="1741714" cy="522514"/>
          </a:xfrm>
        </p:grpSpPr>
        <p:sp>
          <p:nvSpPr>
            <p:cNvPr id="18" name="フローチャート: 処理 22">
              <a:extLst>
                <a:ext uri="{FF2B5EF4-FFF2-40B4-BE49-F238E27FC236}">
                  <a16:creationId xmlns:a16="http://schemas.microsoft.com/office/drawing/2014/main" id="{FCDFE25D-AD40-26FE-969B-B6FB84128706}"/>
                </a:ext>
              </a:extLst>
            </p:cNvPr>
            <p:cNvSpPr/>
            <p:nvPr/>
          </p:nvSpPr>
          <p:spPr>
            <a:xfrm>
              <a:off x="1570264" y="3028950"/>
              <a:ext cx="1741714" cy="522514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0" name="テキスト ボックス 23">
              <a:extLst>
                <a:ext uri="{FF2B5EF4-FFF2-40B4-BE49-F238E27FC236}">
                  <a16:creationId xmlns:a16="http://schemas.microsoft.com/office/drawing/2014/main" id="{7370D67D-8258-F3E3-FE25-578A21CE56F9}"/>
                </a:ext>
              </a:extLst>
            </p:cNvPr>
            <p:cNvSpPr txBox="1"/>
            <p:nvPr/>
          </p:nvSpPr>
          <p:spPr>
            <a:xfrm>
              <a:off x="1592035" y="3061607"/>
              <a:ext cx="1714500" cy="273729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ja-JP" altLang="en-US" sz="2800">
                  <a:ea typeface="游ゴシック"/>
                </a:rPr>
                <a:t>ゲーム画面</a:t>
              </a:r>
            </a:p>
          </p:txBody>
        </p:sp>
      </p:grpSp>
      <p:sp>
        <p:nvSpPr>
          <p:cNvPr id="32" name="矢印: 下 25">
            <a:extLst>
              <a:ext uri="{FF2B5EF4-FFF2-40B4-BE49-F238E27FC236}">
                <a16:creationId xmlns:a16="http://schemas.microsoft.com/office/drawing/2014/main" id="{D220F893-821B-78FA-EFA3-1DE8E4C9FEC8}"/>
              </a:ext>
            </a:extLst>
          </p:cNvPr>
          <p:cNvSpPr/>
          <p:nvPr/>
        </p:nvSpPr>
        <p:spPr>
          <a:xfrm>
            <a:off x="5510891" y="4103915"/>
            <a:ext cx="710291" cy="80282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5" name="テキスト ボックス 23">
            <a:extLst>
              <a:ext uri="{FF2B5EF4-FFF2-40B4-BE49-F238E27FC236}">
                <a16:creationId xmlns:a16="http://schemas.microsoft.com/office/drawing/2014/main" id="{45DE7635-EBC1-2FA8-A1AD-0141AB56C695}"/>
              </a:ext>
            </a:extLst>
          </p:cNvPr>
          <p:cNvSpPr txBox="1"/>
          <p:nvPr/>
        </p:nvSpPr>
        <p:spPr>
          <a:xfrm>
            <a:off x="8684078" y="5692887"/>
            <a:ext cx="278334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>
                <a:ea typeface="游ゴシック"/>
              </a:rPr>
              <a:t>ゲームオーバー画面</a:t>
            </a:r>
          </a:p>
        </p:txBody>
      </p:sp>
      <p:grpSp>
        <p:nvGrpSpPr>
          <p:cNvPr id="3" name="グループ化 24">
            <a:extLst>
              <a:ext uri="{FF2B5EF4-FFF2-40B4-BE49-F238E27FC236}">
                <a16:creationId xmlns:a16="http://schemas.microsoft.com/office/drawing/2014/main" id="{6AD61059-BB33-202A-BA39-DBDA7A41E11C}"/>
              </a:ext>
            </a:extLst>
          </p:cNvPr>
          <p:cNvGrpSpPr/>
          <p:nvPr/>
        </p:nvGrpSpPr>
        <p:grpSpPr>
          <a:xfrm>
            <a:off x="781048" y="5505450"/>
            <a:ext cx="2659047" cy="1120894"/>
            <a:chOff x="1570264" y="3028950"/>
            <a:chExt cx="1820097" cy="522514"/>
          </a:xfrm>
        </p:grpSpPr>
        <p:sp>
          <p:nvSpPr>
            <p:cNvPr id="19" name="フローチャート: 処理 22">
              <a:extLst>
                <a:ext uri="{FF2B5EF4-FFF2-40B4-BE49-F238E27FC236}">
                  <a16:creationId xmlns:a16="http://schemas.microsoft.com/office/drawing/2014/main" id="{21AF05B3-872B-6249-9F9B-1009FA29E5F7}"/>
                </a:ext>
              </a:extLst>
            </p:cNvPr>
            <p:cNvSpPr/>
            <p:nvPr/>
          </p:nvSpPr>
          <p:spPr>
            <a:xfrm>
              <a:off x="1570264" y="3028950"/>
              <a:ext cx="1741714" cy="522514"/>
            </a:xfrm>
            <a:prstGeom prst="flowChart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ja-JP" altLang="en-US"/>
            </a:p>
          </p:txBody>
        </p:sp>
        <p:sp>
          <p:nvSpPr>
            <p:cNvPr id="21" name="テキスト ボックス 23">
              <a:extLst>
                <a:ext uri="{FF2B5EF4-FFF2-40B4-BE49-F238E27FC236}">
                  <a16:creationId xmlns:a16="http://schemas.microsoft.com/office/drawing/2014/main" id="{599C01C7-1FF1-356B-4253-1B4976524793}"/>
                </a:ext>
              </a:extLst>
            </p:cNvPr>
            <p:cNvSpPr txBox="1"/>
            <p:nvPr/>
          </p:nvSpPr>
          <p:spPr>
            <a:xfrm>
              <a:off x="1573408" y="3061608"/>
              <a:ext cx="1816953" cy="4447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ja-JP" altLang="en-US" sz="2800">
                  <a:ea typeface="游ゴシック"/>
                </a:rPr>
                <a:t>ステージ</a:t>
              </a:r>
              <a:endParaRPr lang="en-US" altLang="ja-JP"/>
            </a:p>
            <a:p>
              <a:pPr algn="l"/>
              <a:r>
                <a:rPr lang="ja-JP" altLang="en-US" sz="2800">
                  <a:ea typeface="游ゴシック"/>
                </a:rPr>
                <a:t>クリア画面</a:t>
              </a:r>
              <a:endParaRPr lang="ja-JP"/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4EC128F4-5272-3EB7-4D7A-4DD70789DDED}"/>
              </a:ext>
            </a:extLst>
          </p:cNvPr>
          <p:cNvSpPr txBox="1"/>
          <p:nvPr/>
        </p:nvSpPr>
        <p:spPr>
          <a:xfrm>
            <a:off x="306161" y="3730397"/>
            <a:ext cx="306841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800" b="1">
                <a:ea typeface="游ゴシック"/>
              </a:rPr>
              <a:t>次のステージへ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ED574D-695B-9226-57DA-A152FC7C9235}"/>
              </a:ext>
            </a:extLst>
          </p:cNvPr>
          <p:cNvSpPr txBox="1"/>
          <p:nvPr/>
        </p:nvSpPr>
        <p:spPr>
          <a:xfrm>
            <a:off x="4949597" y="5412241"/>
            <a:ext cx="680357" cy="3061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33028F-2D95-71ED-1BEB-E87B1861679B}"/>
              </a:ext>
            </a:extLst>
          </p:cNvPr>
          <p:cNvSpPr txBox="1"/>
          <p:nvPr/>
        </p:nvSpPr>
        <p:spPr>
          <a:xfrm>
            <a:off x="8684759" y="3109231"/>
            <a:ext cx="307181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>
                <a:ea typeface="游ゴシック"/>
                <a:cs typeface="Calibri"/>
              </a:rPr>
              <a:t>もう一回</a:t>
            </a:r>
            <a:endParaRPr lang="en-US" altLang="ja-JP" sz="2800" b="1">
              <a:ea typeface="游ゴシック"/>
              <a:cs typeface="Calibri"/>
            </a:endParaRPr>
          </a:p>
          <a:p>
            <a:pPr algn="l"/>
            <a:r>
              <a:rPr lang="ja-JP" altLang="en-US" sz="2800" b="1">
                <a:ea typeface="游ゴシック"/>
                <a:cs typeface="Calibri"/>
              </a:rPr>
              <a:t>チャレンジ！</a:t>
            </a:r>
            <a:endParaRPr lang="en-US" sz="2800" b="1">
              <a:ea typeface="游ゴシック"/>
              <a:cs typeface="Calibri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EEDE7BF7-0A8F-A11A-3043-671221E84939}"/>
              </a:ext>
            </a:extLst>
          </p:cNvPr>
          <p:cNvSpPr/>
          <p:nvPr/>
        </p:nvSpPr>
        <p:spPr>
          <a:xfrm>
            <a:off x="585107" y="1948543"/>
            <a:ext cx="11021784" cy="4844141"/>
          </a:xfrm>
          <a:custGeom>
            <a:avLst/>
            <a:gdLst>
              <a:gd name="connsiteX0" fmla="*/ 0 w 7851320"/>
              <a:gd name="connsiteY0" fmla="*/ 684906 h 4109356"/>
              <a:gd name="connsiteX1" fmla="*/ 684906 w 7851320"/>
              <a:gd name="connsiteY1" fmla="*/ 0 h 4109356"/>
              <a:gd name="connsiteX2" fmla="*/ 7166414 w 7851320"/>
              <a:gd name="connsiteY2" fmla="*/ 0 h 4109356"/>
              <a:gd name="connsiteX3" fmla="*/ 7851320 w 7851320"/>
              <a:gd name="connsiteY3" fmla="*/ 684906 h 4109356"/>
              <a:gd name="connsiteX4" fmla="*/ 7851320 w 7851320"/>
              <a:gd name="connsiteY4" fmla="*/ 3424450 h 4109356"/>
              <a:gd name="connsiteX5" fmla="*/ 7166414 w 7851320"/>
              <a:gd name="connsiteY5" fmla="*/ 4109356 h 4109356"/>
              <a:gd name="connsiteX6" fmla="*/ 684906 w 7851320"/>
              <a:gd name="connsiteY6" fmla="*/ 4109356 h 4109356"/>
              <a:gd name="connsiteX7" fmla="*/ 0 w 7851320"/>
              <a:gd name="connsiteY7" fmla="*/ 3424450 h 4109356"/>
              <a:gd name="connsiteX8" fmla="*/ 0 w 7851320"/>
              <a:gd name="connsiteY8" fmla="*/ 684906 h 4109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51320" h="4109356" extrusionOk="0">
                <a:moveTo>
                  <a:pt x="0" y="684906"/>
                </a:moveTo>
                <a:cubicBezTo>
                  <a:pt x="-5072" y="290723"/>
                  <a:pt x="269702" y="3181"/>
                  <a:pt x="684906" y="0"/>
                </a:cubicBezTo>
                <a:cubicBezTo>
                  <a:pt x="1720308" y="52825"/>
                  <a:pt x="5663107" y="-123174"/>
                  <a:pt x="7166414" y="0"/>
                </a:cubicBezTo>
                <a:cubicBezTo>
                  <a:pt x="7573236" y="48278"/>
                  <a:pt x="7894106" y="318175"/>
                  <a:pt x="7851320" y="684906"/>
                </a:cubicBezTo>
                <a:cubicBezTo>
                  <a:pt x="7996250" y="1126073"/>
                  <a:pt x="7869579" y="2958255"/>
                  <a:pt x="7851320" y="3424450"/>
                </a:cubicBezTo>
                <a:cubicBezTo>
                  <a:pt x="7845833" y="3795661"/>
                  <a:pt x="7518970" y="4086331"/>
                  <a:pt x="7166414" y="4109356"/>
                </a:cubicBezTo>
                <a:cubicBezTo>
                  <a:pt x="6474231" y="4278767"/>
                  <a:pt x="2201319" y="4194910"/>
                  <a:pt x="684906" y="4109356"/>
                </a:cubicBezTo>
                <a:cubicBezTo>
                  <a:pt x="296631" y="4113515"/>
                  <a:pt x="10280" y="3782212"/>
                  <a:pt x="0" y="3424450"/>
                </a:cubicBezTo>
                <a:cubicBezTo>
                  <a:pt x="-92943" y="2080954"/>
                  <a:pt x="-168235" y="1357766"/>
                  <a:pt x="0" y="684906"/>
                </a:cubicBezTo>
                <a:close/>
              </a:path>
            </a:pathLst>
          </a:cu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7F483B04-F2BB-8594-1F6D-04B455883E5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2041" y="3113733"/>
            <a:ext cx="1221293" cy="1207686"/>
          </a:xfrm>
          <a:prstGeom prst="rect">
            <a:avLst/>
          </a:prstGeom>
        </p:spPr>
      </p:pic>
      <p:sp>
        <p:nvSpPr>
          <p:cNvPr id="49" name="Arrow: Left 48">
            <a:extLst>
              <a:ext uri="{FF2B5EF4-FFF2-40B4-BE49-F238E27FC236}">
                <a16:creationId xmlns:a16="http://schemas.microsoft.com/office/drawing/2014/main" id="{0BEED7F0-B8B3-FB64-B942-07617CD90419}"/>
              </a:ext>
            </a:extLst>
          </p:cNvPr>
          <p:cNvSpPr/>
          <p:nvPr/>
        </p:nvSpPr>
        <p:spPr>
          <a:xfrm>
            <a:off x="3095624" y="5697990"/>
            <a:ext cx="870857" cy="54428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E4FD383-7307-1A85-8721-21570B631A23}"/>
              </a:ext>
            </a:extLst>
          </p:cNvPr>
          <p:cNvSpPr txBox="1"/>
          <p:nvPr/>
        </p:nvSpPr>
        <p:spPr>
          <a:xfrm>
            <a:off x="3469821" y="5299982"/>
            <a:ext cx="154781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400" b="1">
                <a:solidFill>
                  <a:srgbClr val="FF0000"/>
                </a:solidFill>
                <a:ea typeface="游ゴシック"/>
                <a:cs typeface="Calibri"/>
              </a:rPr>
              <a:t>成功！</a:t>
            </a:r>
            <a:endParaRPr lang="en-US" sz="2400" b="1">
              <a:solidFill>
                <a:srgbClr val="FF0000"/>
              </a:solidFill>
              <a:cs typeface="Calibri"/>
            </a:endParaRPr>
          </a:p>
        </p:txBody>
      </p:sp>
      <p:sp>
        <p:nvSpPr>
          <p:cNvPr id="52" name="Arrow: Left 51">
            <a:extLst>
              <a:ext uri="{FF2B5EF4-FFF2-40B4-BE49-F238E27FC236}">
                <a16:creationId xmlns:a16="http://schemas.microsoft.com/office/drawing/2014/main" id="{A8C68920-271A-2FAF-01E2-C8E5D989EFEE}"/>
              </a:ext>
            </a:extLst>
          </p:cNvPr>
          <p:cNvSpPr/>
          <p:nvPr/>
        </p:nvSpPr>
        <p:spPr>
          <a:xfrm rot="10800000">
            <a:off x="7613195" y="5697989"/>
            <a:ext cx="870857" cy="54428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3B15CE3-8F57-C044-B634-1CBD17C94415}"/>
              </a:ext>
            </a:extLst>
          </p:cNvPr>
          <p:cNvSpPr txBox="1"/>
          <p:nvPr/>
        </p:nvSpPr>
        <p:spPr>
          <a:xfrm>
            <a:off x="7239000" y="5261202"/>
            <a:ext cx="122464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b="1">
                <a:ea typeface="游ゴシック"/>
                <a:cs typeface="Calibri"/>
              </a:rPr>
              <a:t>失敗…</a:t>
            </a:r>
            <a:endParaRPr lang="en-US" sz="2400" b="1">
              <a:ea typeface="游ゴシック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8F235A4-168B-CCAB-C0EE-F2FD3B4F48A7}"/>
              </a:ext>
            </a:extLst>
          </p:cNvPr>
          <p:cNvSpPr txBox="1"/>
          <p:nvPr/>
        </p:nvSpPr>
        <p:spPr>
          <a:xfrm>
            <a:off x="0" y="-15683"/>
            <a:ext cx="2418671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全画面フロー</a:t>
            </a:r>
          </a:p>
        </p:txBody>
      </p:sp>
    </p:spTree>
    <p:extLst>
      <p:ext uri="{BB962C8B-B14F-4D97-AF65-F5344CB8AC3E}">
        <p14:creationId xmlns:p14="http://schemas.microsoft.com/office/powerpoint/2010/main" val="3000134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lowchart: Terminator 4">
            <a:extLst>
              <a:ext uri="{FF2B5EF4-FFF2-40B4-BE49-F238E27FC236}">
                <a16:creationId xmlns:a16="http://schemas.microsoft.com/office/drawing/2014/main" id="{D9B87D7C-DFF8-5312-0A74-0F4C91C552D4}"/>
              </a:ext>
            </a:extLst>
          </p:cNvPr>
          <p:cNvSpPr/>
          <p:nvPr/>
        </p:nvSpPr>
        <p:spPr>
          <a:xfrm>
            <a:off x="443797" y="1689384"/>
            <a:ext cx="1671454" cy="851823"/>
          </a:xfrm>
          <a:prstGeom prst="flowChartTermina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600" b="1">
                <a:solidFill>
                  <a:schemeClr val="tx1"/>
                </a:solidFill>
                <a:ea typeface="游ゴシック"/>
                <a:cs typeface="Calibri"/>
              </a:rPr>
              <a:t>ステージ開始</a:t>
            </a:r>
            <a:endParaRPr lang="en-US" sz="1600" b="1">
              <a:solidFill>
                <a:schemeClr val="tx1"/>
              </a:solidFill>
              <a:cs typeface="Calibri"/>
            </a:endParaRPr>
          </a:p>
        </p:txBody>
      </p:sp>
      <p:sp>
        <p:nvSpPr>
          <p:cNvPr id="6" name="Flowchart: Terminator 5">
            <a:extLst>
              <a:ext uri="{FF2B5EF4-FFF2-40B4-BE49-F238E27FC236}">
                <a16:creationId xmlns:a16="http://schemas.microsoft.com/office/drawing/2014/main" id="{CFADDA3A-D625-BD57-D459-9856F3131EBE}"/>
              </a:ext>
            </a:extLst>
          </p:cNvPr>
          <p:cNvSpPr/>
          <p:nvPr/>
        </p:nvSpPr>
        <p:spPr>
          <a:xfrm>
            <a:off x="9308706" y="1693689"/>
            <a:ext cx="1924565" cy="851823"/>
          </a:xfrm>
          <a:prstGeom prst="flowChartTermina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600" b="1">
                <a:solidFill>
                  <a:srgbClr val="000000"/>
                </a:solidFill>
                <a:ea typeface="游ゴシック"/>
                <a:cs typeface="Calibri"/>
              </a:rPr>
              <a:t>ステージクリア</a:t>
            </a:r>
            <a:endParaRPr lang="en-US" sz="1600" b="1">
              <a:solidFill>
                <a:srgbClr val="000000"/>
              </a:solidFill>
            </a:endParaRPr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id="{7ABE68D5-56A7-E8FA-0A4A-D1B85351523E}"/>
              </a:ext>
            </a:extLst>
          </p:cNvPr>
          <p:cNvSpPr/>
          <p:nvPr/>
        </p:nvSpPr>
        <p:spPr>
          <a:xfrm>
            <a:off x="3361511" y="3478931"/>
            <a:ext cx="2094006" cy="662174"/>
          </a:xfrm>
          <a:prstGeom prst="flowChartTerminator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sz="1600" b="1">
                <a:solidFill>
                  <a:srgbClr val="000000"/>
                </a:solidFill>
                <a:ea typeface="游ゴシック"/>
                <a:cs typeface="Calibri"/>
              </a:rPr>
              <a:t>ゲームオーバー</a:t>
            </a:r>
          </a:p>
        </p:txBody>
      </p:sp>
      <p:sp>
        <p:nvSpPr>
          <p:cNvPr id="9" name="Flowchart: Process 8">
            <a:extLst>
              <a:ext uri="{FF2B5EF4-FFF2-40B4-BE49-F238E27FC236}">
                <a16:creationId xmlns:a16="http://schemas.microsoft.com/office/drawing/2014/main" id="{77D38851-6E69-F023-701D-421FDC74FEB5}"/>
              </a:ext>
            </a:extLst>
          </p:cNvPr>
          <p:cNvSpPr/>
          <p:nvPr/>
        </p:nvSpPr>
        <p:spPr>
          <a:xfrm>
            <a:off x="232722" y="5115171"/>
            <a:ext cx="2048829" cy="691531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 b="1">
                <a:solidFill>
                  <a:srgbClr val="000000"/>
                </a:solidFill>
                <a:ea typeface="游ゴシック"/>
                <a:cs typeface="Calibri"/>
              </a:rPr>
              <a:t>リトライ</a:t>
            </a:r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10D95A48-1851-BECB-D8D3-CCB0FE0CA7BC}"/>
              </a:ext>
            </a:extLst>
          </p:cNvPr>
          <p:cNvSpPr/>
          <p:nvPr/>
        </p:nvSpPr>
        <p:spPr>
          <a:xfrm>
            <a:off x="9082632" y="3429355"/>
            <a:ext cx="2370667" cy="762000"/>
          </a:xfrm>
          <a:prstGeom prst="flowChartDecisi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1400" b="1">
                <a:solidFill>
                  <a:srgbClr val="000000"/>
                </a:solidFill>
                <a:ea typeface="游ゴシック"/>
                <a:cs typeface="Calibri"/>
              </a:rPr>
              <a:t>コレクター</a:t>
            </a:r>
          </a:p>
          <a:p>
            <a:pPr algn="ctr"/>
            <a:r>
              <a:rPr lang="ja-JP" altLang="en-US" sz="1400" b="1">
                <a:solidFill>
                  <a:srgbClr val="000000"/>
                </a:solidFill>
                <a:ea typeface="游ゴシック"/>
                <a:cs typeface="Calibri"/>
              </a:rPr>
              <a:t>要素</a:t>
            </a:r>
          </a:p>
        </p:txBody>
      </p:sp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E0A696B2-E199-18E1-A647-B6B099E50973}"/>
              </a:ext>
            </a:extLst>
          </p:cNvPr>
          <p:cNvSpPr/>
          <p:nvPr/>
        </p:nvSpPr>
        <p:spPr>
          <a:xfrm>
            <a:off x="6798585" y="1701513"/>
            <a:ext cx="1729620" cy="761999"/>
          </a:xfrm>
          <a:prstGeom prst="flowChartProcess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sz="1400" b="1">
                <a:solidFill>
                  <a:srgbClr val="000000"/>
                </a:solidFill>
                <a:ea typeface="游ゴシック"/>
                <a:cs typeface="Calibri"/>
              </a:rPr>
              <a:t>ゴールに</a:t>
            </a:r>
            <a:endParaRPr lang="en-US" altLang="ja-JP" sz="1400" b="1">
              <a:solidFill>
                <a:srgbClr val="000000"/>
              </a:solidFill>
              <a:ea typeface="Meiryo UI"/>
              <a:cs typeface="Calibri"/>
            </a:endParaRPr>
          </a:p>
          <a:p>
            <a:pPr algn="ctr"/>
            <a:r>
              <a:rPr lang="ja-JP" sz="1400" b="1">
                <a:solidFill>
                  <a:srgbClr val="000000"/>
                </a:solidFill>
                <a:ea typeface="游ゴシック"/>
                <a:cs typeface="Calibri"/>
              </a:rPr>
              <a:t>辿り着く</a:t>
            </a:r>
            <a:endParaRPr lang="en-US" altLang="ja-JP" sz="1400" b="1">
              <a:solidFill>
                <a:srgbClr val="000000"/>
              </a:solidFill>
              <a:ea typeface="Meiryo UI"/>
              <a:cs typeface="Calibri"/>
            </a:endParaRPr>
          </a:p>
        </p:txBody>
      </p:sp>
      <p:sp>
        <p:nvSpPr>
          <p:cNvPr id="16" name="Flowchart: Decision 15">
            <a:extLst>
              <a:ext uri="{FF2B5EF4-FFF2-40B4-BE49-F238E27FC236}">
                <a16:creationId xmlns:a16="http://schemas.microsoft.com/office/drawing/2014/main" id="{FDBA279D-F784-618C-2DEE-20FDF96CC335}"/>
              </a:ext>
            </a:extLst>
          </p:cNvPr>
          <p:cNvSpPr/>
          <p:nvPr/>
        </p:nvSpPr>
        <p:spPr>
          <a:xfrm>
            <a:off x="2850915" y="1631965"/>
            <a:ext cx="3108477" cy="907143"/>
          </a:xfrm>
          <a:prstGeom prst="flowChartDecision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sz="1400" b="1">
                <a:solidFill>
                  <a:srgbClr val="000000"/>
                </a:solidFill>
                <a:ea typeface="游ゴシック"/>
                <a:cs typeface="Calibri"/>
              </a:rPr>
              <a:t>敵から隠れたり</a:t>
            </a:r>
          </a:p>
          <a:p>
            <a:pPr algn="ctr"/>
            <a:r>
              <a:rPr lang="ja-JP" sz="1400" b="1">
                <a:solidFill>
                  <a:srgbClr val="000000"/>
                </a:solidFill>
                <a:ea typeface="游ゴシック"/>
                <a:cs typeface="Calibri"/>
              </a:rPr>
              <a:t>パズルを解く</a:t>
            </a:r>
            <a:endParaRPr lang="en-US" sz="1400" b="1">
              <a:solidFill>
                <a:srgbClr val="000000"/>
              </a:solidFill>
              <a:ea typeface="Meiryo UI"/>
              <a:cs typeface="Calibri"/>
            </a:endParaRPr>
          </a:p>
        </p:txBody>
      </p:sp>
      <p:sp>
        <p:nvSpPr>
          <p:cNvPr id="19" name="Arrow: Chevron 18">
            <a:extLst>
              <a:ext uri="{FF2B5EF4-FFF2-40B4-BE49-F238E27FC236}">
                <a16:creationId xmlns:a16="http://schemas.microsoft.com/office/drawing/2014/main" id="{9436CA26-0474-BEA9-3BE0-96EF35454ACF}"/>
              </a:ext>
            </a:extLst>
          </p:cNvPr>
          <p:cNvSpPr/>
          <p:nvPr/>
        </p:nvSpPr>
        <p:spPr>
          <a:xfrm>
            <a:off x="2173940" y="1708897"/>
            <a:ext cx="605117" cy="773205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6C557990-BC8A-F3B6-3F86-64FDDE27A52C}"/>
              </a:ext>
            </a:extLst>
          </p:cNvPr>
          <p:cNvSpPr/>
          <p:nvPr/>
        </p:nvSpPr>
        <p:spPr>
          <a:xfrm>
            <a:off x="5995146" y="1708897"/>
            <a:ext cx="605117" cy="773205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7B3747A5-7CA6-E5FF-9BC7-5BE7C6BAEACC}"/>
              </a:ext>
            </a:extLst>
          </p:cNvPr>
          <p:cNvSpPr/>
          <p:nvPr/>
        </p:nvSpPr>
        <p:spPr>
          <a:xfrm>
            <a:off x="8617322" y="1697691"/>
            <a:ext cx="605117" cy="773205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Arrow: Striped Right 21">
            <a:extLst>
              <a:ext uri="{FF2B5EF4-FFF2-40B4-BE49-F238E27FC236}">
                <a16:creationId xmlns:a16="http://schemas.microsoft.com/office/drawing/2014/main" id="{F1D83FEF-F66B-643E-4067-68C7601EF3A6}"/>
              </a:ext>
            </a:extLst>
          </p:cNvPr>
          <p:cNvSpPr/>
          <p:nvPr/>
        </p:nvSpPr>
        <p:spPr>
          <a:xfrm rot="16200000">
            <a:off x="80269" y="3474961"/>
            <a:ext cx="2366226" cy="660656"/>
          </a:xfrm>
          <a:prstGeom prst="striped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Striped Right 22">
            <a:extLst>
              <a:ext uri="{FF2B5EF4-FFF2-40B4-BE49-F238E27FC236}">
                <a16:creationId xmlns:a16="http://schemas.microsoft.com/office/drawing/2014/main" id="{4B5DF382-E54C-6FEE-1457-18B229896FB5}"/>
              </a:ext>
            </a:extLst>
          </p:cNvPr>
          <p:cNvSpPr/>
          <p:nvPr/>
        </p:nvSpPr>
        <p:spPr>
          <a:xfrm rot="16200000" flipH="1">
            <a:off x="9858375" y="2616571"/>
            <a:ext cx="762001" cy="728382"/>
          </a:xfrm>
          <a:prstGeom prst="striped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Striped Right 23">
            <a:extLst>
              <a:ext uri="{FF2B5EF4-FFF2-40B4-BE49-F238E27FC236}">
                <a16:creationId xmlns:a16="http://schemas.microsoft.com/office/drawing/2014/main" id="{5203C117-1AE0-84C5-6896-FF108862BCCC}"/>
              </a:ext>
            </a:extLst>
          </p:cNvPr>
          <p:cNvSpPr/>
          <p:nvPr/>
        </p:nvSpPr>
        <p:spPr>
          <a:xfrm rot="16200000" flipH="1">
            <a:off x="3997696" y="2594160"/>
            <a:ext cx="762001" cy="773202"/>
          </a:xfrm>
          <a:prstGeom prst="striped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244E6AED-E85C-0EF4-85BF-724DBEA939D5}"/>
              </a:ext>
            </a:extLst>
          </p:cNvPr>
          <p:cNvSpPr/>
          <p:nvPr/>
        </p:nvSpPr>
        <p:spPr>
          <a:xfrm>
            <a:off x="11194674" y="1708896"/>
            <a:ext cx="605117" cy="773205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Arrow: Bent-Up 26">
            <a:extLst>
              <a:ext uri="{FF2B5EF4-FFF2-40B4-BE49-F238E27FC236}">
                <a16:creationId xmlns:a16="http://schemas.microsoft.com/office/drawing/2014/main" id="{4C36FBF4-7F35-84D6-16CC-29A2FD517EF0}"/>
              </a:ext>
            </a:extLst>
          </p:cNvPr>
          <p:cNvSpPr/>
          <p:nvPr/>
        </p:nvSpPr>
        <p:spPr>
          <a:xfrm rot="5400000" flipV="1">
            <a:off x="5577078" y="968658"/>
            <a:ext cx="1568335" cy="8114845"/>
          </a:xfrm>
          <a:prstGeom prst="bentUp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row: Striped Right 27">
            <a:extLst>
              <a:ext uri="{FF2B5EF4-FFF2-40B4-BE49-F238E27FC236}">
                <a16:creationId xmlns:a16="http://schemas.microsoft.com/office/drawing/2014/main" id="{F9408AA2-2505-1CF3-AD5C-5D6AB679E864}"/>
              </a:ext>
            </a:extLst>
          </p:cNvPr>
          <p:cNvSpPr/>
          <p:nvPr/>
        </p:nvSpPr>
        <p:spPr>
          <a:xfrm rot="16200000" flipH="1">
            <a:off x="3863634" y="4307927"/>
            <a:ext cx="1018274" cy="761998"/>
          </a:xfrm>
          <a:prstGeom prst="stripedRightArrow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peech Bubble: Rectangle with Corners Rounded 29">
            <a:extLst>
              <a:ext uri="{FF2B5EF4-FFF2-40B4-BE49-F238E27FC236}">
                <a16:creationId xmlns:a16="http://schemas.microsoft.com/office/drawing/2014/main" id="{78CB1C35-A200-8998-0F1C-07CDE34744AE}"/>
              </a:ext>
            </a:extLst>
          </p:cNvPr>
          <p:cNvSpPr/>
          <p:nvPr/>
        </p:nvSpPr>
        <p:spPr>
          <a:xfrm rot="16200000">
            <a:off x="7934009" y="1855829"/>
            <a:ext cx="563620" cy="2401291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3404DC-FD32-FAE0-D8D4-517CEC6ACB5D}"/>
              </a:ext>
            </a:extLst>
          </p:cNvPr>
          <p:cNvSpPr txBox="1"/>
          <p:nvPr/>
        </p:nvSpPr>
        <p:spPr>
          <a:xfrm>
            <a:off x="7099104" y="2896186"/>
            <a:ext cx="245012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 b="1">
                <a:ea typeface="游ゴシック"/>
                <a:cs typeface="Calibri"/>
              </a:rPr>
              <a:t>  ※リプレイバリュー</a:t>
            </a:r>
            <a:endParaRPr lang="en-US" sz="1600" b="1">
              <a:ea typeface="游ゴシック"/>
              <a:cs typeface="Calibri"/>
            </a:endParaRPr>
          </a:p>
        </p:txBody>
      </p:sp>
      <p:sp>
        <p:nvSpPr>
          <p:cNvPr id="32" name="Speech Bubble: Rectangle with Corners Rounded 31">
            <a:extLst>
              <a:ext uri="{FF2B5EF4-FFF2-40B4-BE49-F238E27FC236}">
                <a16:creationId xmlns:a16="http://schemas.microsoft.com/office/drawing/2014/main" id="{FBFB36A4-25A3-7240-4CD2-E8B559721F57}"/>
              </a:ext>
            </a:extLst>
          </p:cNvPr>
          <p:cNvSpPr/>
          <p:nvPr/>
        </p:nvSpPr>
        <p:spPr>
          <a:xfrm rot="16200000">
            <a:off x="2573088" y="2011473"/>
            <a:ext cx="582911" cy="1812911"/>
          </a:xfrm>
          <a:prstGeom prst="wedgeRoundRectCallou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F5F191-54F7-4419-914B-73ED34BCC12B}"/>
              </a:ext>
            </a:extLst>
          </p:cNvPr>
          <p:cNvSpPr txBox="1"/>
          <p:nvPr/>
        </p:nvSpPr>
        <p:spPr>
          <a:xfrm>
            <a:off x="2032373" y="2776931"/>
            <a:ext cx="184245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600" b="1">
                <a:ea typeface="游ゴシック"/>
                <a:cs typeface="Calibri"/>
              </a:rPr>
              <a:t>敵に見つかる等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CF6A13F-387D-626F-14FC-811D8ABFB889}"/>
              </a:ext>
            </a:extLst>
          </p:cNvPr>
          <p:cNvSpPr txBox="1"/>
          <p:nvPr/>
        </p:nvSpPr>
        <p:spPr>
          <a:xfrm>
            <a:off x="0" y="-15683"/>
            <a:ext cx="2779057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システムフロー</a:t>
            </a:r>
            <a:endParaRPr kumimoji="1" lang="ja-JP" altLang="en-US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32276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12FCC8-E6F3-C156-D2DA-D8801829F5AA}"/>
              </a:ext>
            </a:extLst>
          </p:cNvPr>
          <p:cNvSpPr/>
          <p:nvPr/>
        </p:nvSpPr>
        <p:spPr>
          <a:xfrm>
            <a:off x="8162924" y="190499"/>
            <a:ext cx="66675" cy="642937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FE4484-05DD-7C74-A928-DF2084F86ACF}"/>
              </a:ext>
            </a:extLst>
          </p:cNvPr>
          <p:cNvSpPr txBox="1"/>
          <p:nvPr/>
        </p:nvSpPr>
        <p:spPr>
          <a:xfrm>
            <a:off x="2314575" y="457199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600">
                <a:ea typeface="Calibri"/>
                <a:cs typeface="Calibri"/>
              </a:rPr>
              <a:t>プレイヤー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9A8ED0-54DB-34B9-A139-A5801B44D212}"/>
              </a:ext>
            </a:extLst>
          </p:cNvPr>
          <p:cNvSpPr txBox="1"/>
          <p:nvPr/>
        </p:nvSpPr>
        <p:spPr>
          <a:xfrm>
            <a:off x="2638425" y="1895474"/>
            <a:ext cx="5343525" cy="37979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ja-JP" sz="2400">
                <a:ea typeface="游ゴシック"/>
                <a:cs typeface="Calibri"/>
              </a:rPr>
              <a:t>滅ぶ世界から逃げるために違法に</a:t>
            </a:r>
            <a:endParaRPr lang="en-US" altLang="ja-JP" sz="2400">
              <a:ea typeface="Meiryo U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ja-JP" sz="2400">
                <a:ea typeface="游ゴシック"/>
                <a:cs typeface="Calibri"/>
              </a:rPr>
              <a:t>タイムトラベルした</a:t>
            </a:r>
            <a:r>
              <a:rPr lang="ja-JP" altLang="en-US" sz="2400">
                <a:ea typeface="游ゴシック"/>
                <a:cs typeface="Calibri"/>
              </a:rPr>
              <a:t>結果</a:t>
            </a:r>
            <a:endParaRPr lang="en-US" altLang="ja-JP" sz="2400">
              <a:ea typeface="Meiryo U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ja-JP" sz="2400">
                <a:ea typeface="游ゴシック"/>
                <a:cs typeface="Calibri"/>
              </a:rPr>
              <a:t>タイムパトロールに目を付けられて</a:t>
            </a:r>
            <a:endParaRPr lang="en-US" altLang="ja-JP" sz="2400">
              <a:ea typeface="Meiryo U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ja-JP" sz="2400">
                <a:ea typeface="游ゴシック"/>
                <a:cs typeface="Calibri"/>
              </a:rPr>
              <a:t>しまう</a:t>
            </a:r>
            <a:endParaRPr lang="en-US" altLang="ja-JP" sz="2400">
              <a:ea typeface="Meiryo UI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endParaRPr lang="ja-JP" altLang="en-US" sz="2400">
              <a:ea typeface="游ゴシック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ja-JP" sz="2400">
                <a:ea typeface="游ゴシック"/>
                <a:cs typeface="Calibri"/>
              </a:rPr>
              <a:t>タイムトラベル</a:t>
            </a:r>
            <a:r>
              <a:rPr lang="ja-JP" altLang="en-US" sz="2400">
                <a:ea typeface="游ゴシック"/>
                <a:cs typeface="Calibri"/>
              </a:rPr>
              <a:t>ドリルの</a:t>
            </a:r>
            <a:r>
              <a:rPr lang="ja-JP" sz="2400">
                <a:ea typeface="游ゴシック"/>
                <a:cs typeface="Calibri"/>
              </a:rPr>
              <a:t>燃料に必要な</a:t>
            </a:r>
            <a:r>
              <a:rPr lang="ja-JP" altLang="en-US" sz="2400">
                <a:ea typeface="游ゴシック"/>
                <a:cs typeface="Calibri"/>
              </a:rPr>
              <a:t>歴史的価値を持つものを盗み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ja-JP" sz="2400">
                <a:ea typeface="游ゴシック"/>
                <a:cs typeface="Calibri"/>
              </a:rPr>
              <a:t>タイムパトロールから</a:t>
            </a:r>
            <a:r>
              <a:rPr lang="ja-JP" altLang="en-US" sz="2400">
                <a:ea typeface="游ゴシック"/>
                <a:cs typeface="Calibri"/>
              </a:rPr>
              <a:t>逃げ続けろ！</a:t>
            </a:r>
            <a:endParaRPr lang="ja-JP"/>
          </a:p>
          <a:p>
            <a:endParaRPr lang="ja-JP" altLang="en-US">
              <a:ea typeface="游ゴシック"/>
              <a:cs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30640B-E5E8-F8B5-070E-88D9A958D4DF}"/>
              </a:ext>
            </a:extLst>
          </p:cNvPr>
          <p:cNvSpPr/>
          <p:nvPr/>
        </p:nvSpPr>
        <p:spPr>
          <a:xfrm>
            <a:off x="152399" y="1333500"/>
            <a:ext cx="2371725" cy="48387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9D1732-996A-FE56-D0B8-63673D6E91E5}"/>
              </a:ext>
            </a:extLst>
          </p:cNvPr>
          <p:cNvSpPr txBox="1"/>
          <p:nvPr/>
        </p:nvSpPr>
        <p:spPr>
          <a:xfrm>
            <a:off x="8258175" y="457200"/>
            <a:ext cx="397192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3600">
                <a:ea typeface="游ゴシック"/>
                <a:cs typeface="Calibri"/>
              </a:rPr>
              <a:t>タイムパトロール</a:t>
            </a:r>
            <a:endParaRPr lang="en-US" sz="36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F574E2-3CB4-7BFC-7091-4A5B716BD9A7}"/>
              </a:ext>
            </a:extLst>
          </p:cNvPr>
          <p:cNvSpPr/>
          <p:nvPr/>
        </p:nvSpPr>
        <p:spPr>
          <a:xfrm>
            <a:off x="9096374" y="1165931"/>
            <a:ext cx="2295525" cy="274884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ED970-375D-DFBF-7A38-71D83D618D55}"/>
              </a:ext>
            </a:extLst>
          </p:cNvPr>
          <p:cNvSpPr txBox="1"/>
          <p:nvPr/>
        </p:nvSpPr>
        <p:spPr>
          <a:xfrm>
            <a:off x="8724900" y="4581525"/>
            <a:ext cx="331470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>
                <a:ea typeface="游ゴシック"/>
                <a:cs typeface="Calibri"/>
              </a:rPr>
              <a:t>違法な</a:t>
            </a:r>
            <a:endParaRPr lang="en-US" altLang="ja-JP">
              <a:ea typeface="游ゴシック"/>
              <a:cs typeface="Calibri"/>
            </a:endParaRPr>
          </a:p>
          <a:p>
            <a:pPr algn="l"/>
            <a:r>
              <a:rPr lang="ja-JP" altLang="en-US" sz="2800">
                <a:ea typeface="游ゴシック"/>
                <a:cs typeface="Calibri"/>
              </a:rPr>
              <a:t>タイムトラベルを取り締まる</a:t>
            </a:r>
            <a:endParaRPr lang="en-US">
              <a:ea typeface="游ゴシック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4ADD39-D492-CDDF-201D-46BD47699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44378" y="148638"/>
            <a:ext cx="5101196" cy="73039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466E72F-BA87-4EBB-019E-894686D0BE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5311" y="1196858"/>
            <a:ext cx="1079971" cy="2714507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05CC246-A44F-E454-554A-4DE90B34FD29}"/>
              </a:ext>
            </a:extLst>
          </p:cNvPr>
          <p:cNvSpPr txBox="1"/>
          <p:nvPr/>
        </p:nvSpPr>
        <p:spPr>
          <a:xfrm>
            <a:off x="0" y="-15683"/>
            <a:ext cx="144780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世界観</a:t>
            </a:r>
            <a:endParaRPr kumimoji="1" lang="ja-JP" altLang="en-US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84562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49B1078-CB16-D26B-E280-6BE9127A9EB5}"/>
              </a:ext>
            </a:extLst>
          </p:cNvPr>
          <p:cNvSpPr txBox="1"/>
          <p:nvPr/>
        </p:nvSpPr>
        <p:spPr>
          <a:xfrm>
            <a:off x="229028" y="568053"/>
            <a:ext cx="200977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400">
                <a:ea typeface="游ゴシック"/>
                <a:cs typeface="Calibri"/>
              </a:rPr>
              <a:t>ドリル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424844-70F7-0C0D-A750-8B9D3EE4A330}"/>
              </a:ext>
            </a:extLst>
          </p:cNvPr>
          <p:cNvSpPr/>
          <p:nvPr/>
        </p:nvSpPr>
        <p:spPr>
          <a:xfrm rot="1560000" flipH="1">
            <a:off x="8832907" y="-239364"/>
            <a:ext cx="57150" cy="733425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0DFCA6-C91E-83A2-F42B-7E3E01F492DD}"/>
              </a:ext>
            </a:extLst>
          </p:cNvPr>
          <p:cNvSpPr/>
          <p:nvPr/>
        </p:nvSpPr>
        <p:spPr>
          <a:xfrm>
            <a:off x="123587" y="1351290"/>
            <a:ext cx="2333625" cy="22764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067217-81D7-44BD-CA6E-8224DF10D047}"/>
              </a:ext>
            </a:extLst>
          </p:cNvPr>
          <p:cNvSpPr txBox="1"/>
          <p:nvPr/>
        </p:nvSpPr>
        <p:spPr>
          <a:xfrm>
            <a:off x="2810188" y="1674395"/>
            <a:ext cx="7486650" cy="15870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ja-JP" sz="2000" dirty="0">
                <a:ea typeface="游ゴシック"/>
                <a:cs typeface="Calibri"/>
              </a:rPr>
              <a:t>歴史的価値</a:t>
            </a:r>
            <a:r>
              <a:rPr lang="ja-JP" altLang="en-US" sz="2000" dirty="0">
                <a:ea typeface="游ゴシック"/>
                <a:cs typeface="Calibri"/>
              </a:rPr>
              <a:t>を持つもの</a:t>
            </a:r>
            <a:r>
              <a:rPr lang="ja-JP" sz="2000" dirty="0">
                <a:ea typeface="游ゴシック"/>
                <a:cs typeface="Calibri"/>
              </a:rPr>
              <a:t>に</a:t>
            </a:r>
            <a:r>
              <a:rPr lang="ja-JP" altLang="en-US" sz="2000" dirty="0">
                <a:ea typeface="游ゴシック"/>
                <a:cs typeface="Calibri"/>
              </a:rPr>
              <a:t>反</a:t>
            </a:r>
            <a:r>
              <a:rPr lang="ja-JP" sz="2000" dirty="0">
                <a:ea typeface="游ゴシック"/>
                <a:cs typeface="Calibri"/>
              </a:rPr>
              <a:t>応す</a:t>
            </a:r>
            <a:r>
              <a:rPr lang="ja-JP" altLang="en-US" sz="2000" dirty="0">
                <a:ea typeface="游ゴシック"/>
                <a:cs typeface="Calibri"/>
              </a:rPr>
              <a:t>る不思議なドリル</a:t>
            </a:r>
            <a:endParaRPr lang="en-US" altLang="ja-JP" sz="2000" dirty="0">
              <a:ea typeface="游ゴシック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ja-JP" altLang="en-US" sz="2000" dirty="0">
                <a:ea typeface="游ゴシック"/>
                <a:cs typeface="Calibri"/>
              </a:rPr>
              <a:t>近づけるとタイムトラベルに使えるパワーを得る</a:t>
            </a: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ja-JP" sz="2000" dirty="0">
                <a:ea typeface="游ゴシック"/>
                <a:cs typeface="Calibri"/>
              </a:rPr>
              <a:t>　パワーがたまっている状態で次元の</a:t>
            </a:r>
            <a:r>
              <a:rPr lang="ja-JP" altLang="en-US" sz="2000" dirty="0">
                <a:ea typeface="游ゴシック"/>
                <a:cs typeface="Calibri"/>
              </a:rPr>
              <a:t>挟間</a:t>
            </a:r>
            <a:r>
              <a:rPr lang="ja-JP" sz="2000" dirty="0">
                <a:ea typeface="游ゴシック"/>
                <a:cs typeface="Calibri"/>
              </a:rPr>
              <a:t>を掘ると</a:t>
            </a:r>
            <a:endParaRPr lang="en-US" altLang="ja-JP" sz="2000" dirty="0">
              <a:ea typeface="游ゴシック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ja-JP" sz="2000" dirty="0">
                <a:ea typeface="游ゴシック"/>
                <a:cs typeface="Calibri"/>
              </a:rPr>
              <a:t>　タイムトラベルできる</a:t>
            </a:r>
            <a:endParaRPr lang="en-US" sz="2000" dirty="0">
              <a:ea typeface="游ゴシック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527439-5A00-8793-FEEA-4346A0E40C5E}"/>
              </a:ext>
            </a:extLst>
          </p:cNvPr>
          <p:cNvSpPr txBox="1"/>
          <p:nvPr/>
        </p:nvSpPr>
        <p:spPr>
          <a:xfrm>
            <a:off x="492002" y="3903977"/>
            <a:ext cx="1419225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400">
                <a:ea typeface="游ゴシック"/>
                <a:cs typeface="Calibri"/>
              </a:rPr>
              <a:t>電池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E7CAC8-D0A7-B222-7AF6-F3A95F8D3255}"/>
              </a:ext>
            </a:extLst>
          </p:cNvPr>
          <p:cNvSpPr txBox="1"/>
          <p:nvPr/>
        </p:nvSpPr>
        <p:spPr>
          <a:xfrm>
            <a:off x="2228849" y="4922402"/>
            <a:ext cx="7562850" cy="7765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ja-JP" sz="2000" dirty="0">
                <a:ea typeface="游ゴシック"/>
                <a:cs typeface="Calibri"/>
              </a:rPr>
              <a:t>この電池を</a:t>
            </a:r>
            <a:r>
              <a:rPr lang="ja-JP" altLang="en-US" sz="2000" dirty="0">
                <a:ea typeface="游ゴシック"/>
                <a:cs typeface="Calibri"/>
              </a:rPr>
              <a:t>ドリルに</a:t>
            </a:r>
            <a:r>
              <a:rPr lang="ja-JP" sz="2000" dirty="0">
                <a:ea typeface="游ゴシック"/>
                <a:cs typeface="Calibri"/>
              </a:rPr>
              <a:t>使うと穴を掘ることができる</a:t>
            </a:r>
            <a:endParaRPr lang="ja-JP" altLang="en-US" sz="2000" dirty="0">
              <a:ea typeface="游ゴシック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ja-JP" sz="2000" dirty="0">
                <a:ea typeface="游ゴシック"/>
                <a:cs typeface="Calibri"/>
              </a:rPr>
              <a:t>一定の回数掘ると電池切れにより使えなくなる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BDE2A2-E225-D5F6-2BBC-49165A36CA86}"/>
              </a:ext>
            </a:extLst>
          </p:cNvPr>
          <p:cNvSpPr txBox="1"/>
          <p:nvPr/>
        </p:nvSpPr>
        <p:spPr>
          <a:xfrm>
            <a:off x="9077325" y="2905125"/>
            <a:ext cx="33528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4200">
                <a:ea typeface="游ゴシック"/>
                <a:cs typeface="Calibri"/>
              </a:rPr>
              <a:t>酸素ゲージ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CD33C4-4433-61CF-4580-69D1F3193A0F}"/>
              </a:ext>
            </a:extLst>
          </p:cNvPr>
          <p:cNvSpPr/>
          <p:nvPr/>
        </p:nvSpPr>
        <p:spPr>
          <a:xfrm>
            <a:off x="9791699" y="3771900"/>
            <a:ext cx="1476375" cy="16192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2050BA-5495-AA56-B886-7A4EF6066C10}"/>
              </a:ext>
            </a:extLst>
          </p:cNvPr>
          <p:cNvSpPr txBox="1"/>
          <p:nvPr/>
        </p:nvSpPr>
        <p:spPr>
          <a:xfrm>
            <a:off x="7705725" y="5657850"/>
            <a:ext cx="5019675" cy="7765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ja-JP" sz="2000">
                <a:ea typeface="游ゴシック"/>
                <a:cs typeface="Calibri"/>
              </a:rPr>
              <a:t>　　　　</a:t>
            </a:r>
            <a:r>
              <a:rPr lang="ja-JP">
                <a:ea typeface="游ゴシック"/>
                <a:cs typeface="Calibri"/>
              </a:rPr>
              <a:t>地中にいると酸素が減ってい</a:t>
            </a:r>
            <a:r>
              <a:rPr lang="ja-JP" altLang="en-US">
                <a:ea typeface="游ゴシック"/>
                <a:cs typeface="Calibri"/>
              </a:rPr>
              <a:t>く</a:t>
            </a:r>
            <a:endParaRPr lang="en-US" altLang="ja-JP">
              <a:ea typeface="游ゴシック"/>
              <a:cs typeface="Calibri"/>
            </a:endParaRPr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ja-JP">
                <a:ea typeface="游ゴシック"/>
                <a:cs typeface="Calibri"/>
              </a:rPr>
              <a:t>なくなるとゲームオーバーに</a:t>
            </a:r>
            <a:r>
              <a:rPr lang="ja-JP" altLang="en-US">
                <a:ea typeface="游ゴシック"/>
                <a:cs typeface="Calibri"/>
              </a:rPr>
              <a:t>なってしまう</a:t>
            </a:r>
            <a:endParaRPr lang="en-US">
              <a:ea typeface="游ゴシック"/>
              <a:cs typeface="Calibri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66CA315-62B4-BF10-B828-987E356F7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5189" y="449698"/>
            <a:ext cx="3045377" cy="41148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828AF0E-EECD-F09B-76F0-371EA21E47A2}"/>
              </a:ext>
            </a:extLst>
          </p:cNvPr>
          <p:cNvSpPr/>
          <p:nvPr/>
        </p:nvSpPr>
        <p:spPr>
          <a:xfrm>
            <a:off x="164711" y="4839779"/>
            <a:ext cx="1850571" cy="177437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90C49A-E366-1DB5-456E-C26352800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2693" y="3641561"/>
            <a:ext cx="3045377" cy="41148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BF64BD0-BB7B-3401-69E4-02347BBA41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0003" y="3188676"/>
            <a:ext cx="2254071" cy="3020647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46E571-2331-0124-CF2F-6F4C6D6B987A}"/>
              </a:ext>
            </a:extLst>
          </p:cNvPr>
          <p:cNvSpPr txBox="1"/>
          <p:nvPr/>
        </p:nvSpPr>
        <p:spPr>
          <a:xfrm>
            <a:off x="0" y="-15683"/>
            <a:ext cx="376936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パラメータや</a:t>
            </a:r>
            <a:r>
              <a:rPr lang="en-US" altLang="ja-JP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UI</a:t>
            </a:r>
            <a:r>
              <a:rPr lang="ja-JP" altLang="en-US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の特徴</a:t>
            </a:r>
            <a:endParaRPr kumimoji="1" lang="ja-JP" altLang="en-US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08004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4212184-1877-DF04-AB92-19A37E5823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3230" y="1036171"/>
            <a:ext cx="6652465" cy="321587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F1830C8-4C57-29B9-B189-8E1106E67157}"/>
              </a:ext>
            </a:extLst>
          </p:cNvPr>
          <p:cNvSpPr txBox="1"/>
          <p:nvPr/>
        </p:nvSpPr>
        <p:spPr>
          <a:xfrm>
            <a:off x="6939038" y="1391436"/>
            <a:ext cx="5296505" cy="160043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8000" b="1" dirty="0">
                <a:solidFill>
                  <a:schemeClr val="bg1"/>
                </a:solidFill>
                <a:latin typeface="HGP創英ﾌﾟﾚｾﾞﾝｽEB"/>
                <a:ea typeface="HGP創英ﾌﾟﾚｾﾞﾝｽEB"/>
                <a:cs typeface="Calibri"/>
              </a:rPr>
              <a:t>Hide</a:t>
            </a:r>
            <a:r>
              <a:rPr lang="ja-JP" altLang="en-US" sz="8000" b="1" dirty="0">
                <a:solidFill>
                  <a:schemeClr val="bg1"/>
                </a:solidFill>
                <a:latin typeface="HGP創英ﾌﾟﾚｾﾞﾝｽEB"/>
                <a:ea typeface="HGP創英ﾌﾟﾚｾﾞﾝｽEB"/>
                <a:cs typeface="Calibri"/>
              </a:rPr>
              <a:t>＆</a:t>
            </a:r>
            <a:r>
              <a:rPr lang="en-US" sz="8000" b="1" dirty="0">
                <a:solidFill>
                  <a:schemeClr val="bg1"/>
                </a:solidFill>
                <a:latin typeface="HGP創英ﾌﾟﾚｾﾞﾝｽEB"/>
                <a:ea typeface="HGP創英ﾌﾟﾚｾﾞﾝｽEB"/>
                <a:cs typeface="Calibri"/>
              </a:rPr>
              <a:t>Dig</a:t>
            </a:r>
            <a:endParaRPr lang="en-US" sz="8000" dirty="0">
              <a:solidFill>
                <a:schemeClr val="bg1"/>
              </a:solidFill>
              <a:latin typeface="HGP創英ﾌﾟﾚｾﾞﾝｽEB"/>
              <a:ea typeface="HGP創英ﾌﾟﾚｾﾞﾝｽEB"/>
              <a:cs typeface="Calibri"/>
            </a:endParaRPr>
          </a:p>
          <a:p>
            <a:pPr algn="ctr"/>
            <a:endParaRPr lang="en-US" dirty="0"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6F54FC-75E6-8C05-A108-CE81B0BF6881}"/>
              </a:ext>
            </a:extLst>
          </p:cNvPr>
          <p:cNvSpPr txBox="1"/>
          <p:nvPr/>
        </p:nvSpPr>
        <p:spPr>
          <a:xfrm>
            <a:off x="-229053" y="600551"/>
            <a:ext cx="1265010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altLang="en-US" sz="2800" b="1" dirty="0">
                <a:solidFill>
                  <a:srgbClr val="ED7D31"/>
                </a:solidFill>
                <a:latin typeface="Meiryo"/>
                <a:ea typeface="Meiryo"/>
                <a:cs typeface="Calibri"/>
              </a:rPr>
              <a:t>Hide&amp;Digの敵を避けながら、ゴールを目指すゲーム性はニッチなジャンル</a:t>
            </a:r>
            <a:endParaRPr lang="en-US" sz="2800" b="1" dirty="0">
              <a:solidFill>
                <a:srgbClr val="ED7D31"/>
              </a:solidFill>
              <a:latin typeface="Meiryo"/>
              <a:ea typeface="Meiryo"/>
              <a:cs typeface="Calibri"/>
            </a:endParaRPr>
          </a:p>
        </p:txBody>
      </p:sp>
      <p:pic>
        <p:nvPicPr>
          <p:cNvPr id="2" name="Picture 1" descr="好きなゲーム」は？ | 市場調査・日本リサーチセンター(NRC)">
            <a:extLst>
              <a:ext uri="{FF2B5EF4-FFF2-40B4-BE49-F238E27FC236}">
                <a16:creationId xmlns:a16="http://schemas.microsoft.com/office/drawing/2014/main" id="{F001E382-015D-54B0-9B83-23A774D5B6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356" y="3082231"/>
            <a:ext cx="4500187" cy="3788832"/>
          </a:xfrm>
          <a:prstGeom prst="rect">
            <a:avLst/>
          </a:prstGeom>
        </p:spPr>
      </p:pic>
      <p:sp>
        <p:nvSpPr>
          <p:cNvPr id="3" name="Arrow: Left 2">
            <a:extLst>
              <a:ext uri="{FF2B5EF4-FFF2-40B4-BE49-F238E27FC236}">
                <a16:creationId xmlns:a16="http://schemas.microsoft.com/office/drawing/2014/main" id="{E35ABD4A-1D8E-DC4B-CADB-8F35DE6FFCB0}"/>
              </a:ext>
            </a:extLst>
          </p:cNvPr>
          <p:cNvSpPr/>
          <p:nvPr/>
        </p:nvSpPr>
        <p:spPr>
          <a:xfrm>
            <a:off x="7085465" y="5065047"/>
            <a:ext cx="503464" cy="47624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5ADC65-92C1-771A-C4F8-D8883E991619}"/>
              </a:ext>
            </a:extLst>
          </p:cNvPr>
          <p:cNvSpPr txBox="1"/>
          <p:nvPr/>
        </p:nvSpPr>
        <p:spPr>
          <a:xfrm>
            <a:off x="0" y="4093289"/>
            <a:ext cx="7002235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sz="2400" dirty="0">
                <a:latin typeface="Calibri"/>
                <a:ea typeface="游ゴシック"/>
                <a:cs typeface="Calibri"/>
              </a:rPr>
              <a:t>データによると、パズルゲームが一番人気なのは</a:t>
            </a:r>
          </a:p>
          <a:p>
            <a:r>
              <a:rPr lang="ja-JP" altLang="en-US" sz="3200" b="1" dirty="0">
                <a:latin typeface="Calibri"/>
                <a:ea typeface="游ゴシック"/>
                <a:cs typeface="Calibri"/>
              </a:rPr>
              <a:t>30~40代</a:t>
            </a:r>
            <a:r>
              <a:rPr lang="ja-JP" altLang="en-US" sz="2400" dirty="0">
                <a:latin typeface="Calibri"/>
                <a:ea typeface="游ゴシック"/>
                <a:cs typeface="Calibri"/>
              </a:rPr>
              <a:t>の</a:t>
            </a:r>
            <a:r>
              <a:rPr lang="ja-JP" altLang="en-US" sz="3200" b="1" dirty="0">
                <a:solidFill>
                  <a:srgbClr val="00B0F0"/>
                </a:solidFill>
                <a:latin typeface="Calibri"/>
                <a:ea typeface="游ゴシック"/>
                <a:cs typeface="Calibri"/>
              </a:rPr>
              <a:t>男性</a:t>
            </a:r>
            <a:r>
              <a:rPr lang="ja-JP" altLang="en-US" sz="2400" dirty="0">
                <a:latin typeface="Calibri"/>
                <a:ea typeface="游ゴシック"/>
                <a:cs typeface="Calibri"/>
              </a:rPr>
              <a:t>です。</a:t>
            </a:r>
          </a:p>
          <a:p>
            <a:r>
              <a:rPr lang="ja-JP" altLang="en-US" sz="3200" b="1" dirty="0">
                <a:solidFill>
                  <a:srgbClr val="FF0000"/>
                </a:solidFill>
                <a:latin typeface="Calibri"/>
                <a:ea typeface="游ゴシック"/>
                <a:cs typeface="Calibri"/>
              </a:rPr>
              <a:t>女性</a:t>
            </a:r>
            <a:r>
              <a:rPr lang="ja-JP" altLang="en-US" sz="2400" dirty="0">
                <a:latin typeface="Calibri"/>
                <a:ea typeface="游ゴシック"/>
                <a:cs typeface="Calibri"/>
              </a:rPr>
              <a:t>の場合は</a:t>
            </a:r>
            <a:r>
              <a:rPr lang="ja-JP" altLang="en-US" sz="3200" b="1" dirty="0">
                <a:latin typeface="Calibri"/>
                <a:ea typeface="游ゴシック"/>
                <a:cs typeface="Calibri"/>
              </a:rPr>
              <a:t>、29歳以下</a:t>
            </a:r>
            <a:r>
              <a:rPr lang="ja-JP" altLang="en-US" sz="2400" dirty="0">
                <a:latin typeface="Calibri"/>
                <a:ea typeface="游ゴシック"/>
                <a:cs typeface="Calibri"/>
              </a:rPr>
              <a:t>から</a:t>
            </a:r>
            <a:r>
              <a:rPr lang="ja-JP" altLang="en-US" sz="3200" b="1" dirty="0">
                <a:latin typeface="Calibri"/>
                <a:ea typeface="游ゴシック"/>
                <a:cs typeface="Calibri"/>
              </a:rPr>
              <a:t>60歳以上</a:t>
            </a:r>
          </a:p>
          <a:p>
            <a:r>
              <a:rPr lang="ja-JP" altLang="en-US" sz="2400" dirty="0">
                <a:latin typeface="Calibri"/>
                <a:ea typeface="游ゴシック"/>
                <a:cs typeface="Calibri"/>
              </a:rPr>
              <a:t>までも人気です。</a:t>
            </a:r>
          </a:p>
          <a:p>
            <a:r>
              <a:rPr lang="ja-JP" altLang="en-US" sz="2400" dirty="0">
                <a:ea typeface="游ゴシック"/>
                <a:cs typeface="Calibri"/>
              </a:rPr>
              <a:t>つまり、</a:t>
            </a:r>
            <a:r>
              <a:rPr lang="ja-JP" altLang="en-US" sz="3200" b="1" dirty="0">
                <a:ea typeface="游ゴシック"/>
                <a:cs typeface="Calibri"/>
              </a:rPr>
              <a:t>パズルゲームは年齢にも関わらず、プレイヤーの</a:t>
            </a:r>
            <a:r>
              <a:rPr lang="ja-JP" altLang="en-US" sz="3200" b="1" dirty="0">
                <a:solidFill>
                  <a:srgbClr val="FF0000"/>
                </a:solidFill>
                <a:ea typeface="游ゴシック"/>
                <a:cs typeface="Calibri"/>
              </a:rPr>
              <a:t>幅が広い</a:t>
            </a:r>
            <a:r>
              <a:rPr lang="ja-JP" altLang="en-US" sz="3200" b="1" dirty="0">
                <a:ea typeface="游ゴシック"/>
                <a:cs typeface="Calibri"/>
              </a:rPr>
              <a:t>です。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83991F8-2607-1BAA-17ED-F45F9EDD6151}"/>
              </a:ext>
            </a:extLst>
          </p:cNvPr>
          <p:cNvSpPr/>
          <p:nvPr/>
        </p:nvSpPr>
        <p:spPr>
          <a:xfrm>
            <a:off x="9570720" y="3742788"/>
            <a:ext cx="928352" cy="509258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213806-E2E6-8361-E420-114D5DB5F9DE}"/>
              </a:ext>
            </a:extLst>
          </p:cNvPr>
          <p:cNvSpPr/>
          <p:nvPr/>
        </p:nvSpPr>
        <p:spPr>
          <a:xfrm>
            <a:off x="8327526" y="5065047"/>
            <a:ext cx="1006927" cy="85725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017C328B-4FA1-E7E8-B257-601BBC02CC56}"/>
              </a:ext>
            </a:extLst>
          </p:cNvPr>
          <p:cNvSpPr/>
          <p:nvPr/>
        </p:nvSpPr>
        <p:spPr>
          <a:xfrm rot="3000000">
            <a:off x="6658155" y="2834394"/>
            <a:ext cx="533400" cy="5334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562C-AD3E-2214-16D1-23E016B83CE4}"/>
              </a:ext>
            </a:extLst>
          </p:cNvPr>
          <p:cNvSpPr txBox="1"/>
          <p:nvPr/>
        </p:nvSpPr>
        <p:spPr>
          <a:xfrm>
            <a:off x="3869916" y="3123696"/>
            <a:ext cx="1965172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2800" b="1" dirty="0">
                <a:solidFill>
                  <a:srgbClr val="FF0000"/>
                </a:solidFill>
                <a:ea typeface="游ゴシック"/>
                <a:cs typeface="Calibri"/>
              </a:rPr>
              <a:t>ニッチは</a:t>
            </a:r>
            <a:endParaRPr lang="en-US" altLang="ja-JP" sz="2800" dirty="0"/>
          </a:p>
          <a:p>
            <a:pPr algn="l"/>
            <a:r>
              <a:rPr lang="ja-JP" altLang="en-US" sz="2800" b="1" dirty="0">
                <a:solidFill>
                  <a:srgbClr val="FF0000"/>
                </a:solidFill>
                <a:ea typeface="游ゴシック"/>
                <a:cs typeface="Calibri"/>
              </a:rPr>
              <a:t>ここ！！！</a:t>
            </a:r>
            <a:endParaRPr lang="ja-JP" sz="28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2344705-2FA0-447E-9FC1-7F3496C9D540}"/>
              </a:ext>
            </a:extLst>
          </p:cNvPr>
          <p:cNvSpPr txBox="1"/>
          <p:nvPr/>
        </p:nvSpPr>
        <p:spPr>
          <a:xfrm>
            <a:off x="0" y="-15683"/>
            <a:ext cx="2550160" cy="52322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ビジネス要件</a:t>
            </a:r>
            <a:endParaRPr kumimoji="1" lang="ja-JP" altLang="en-US" sz="2800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1894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F25A8E2EECE2364DBF5A6ECC919CB978" ma:contentTypeVersion="7" ma:contentTypeDescription="新しいドキュメントを作成します。" ma:contentTypeScope="" ma:versionID="8a3b97ff586da99f9a9d4c075a38a98d">
  <xsd:schema xmlns:xsd="http://www.w3.org/2001/XMLSchema" xmlns:xs="http://www.w3.org/2001/XMLSchema" xmlns:p="http://schemas.microsoft.com/office/2006/metadata/properties" xmlns:ns3="1cf7dc52-e7fd-40ed-9a07-11f6e05ef398" xmlns:ns4="4c79e6a5-655a-42be-b0b8-48fff79ca815" targetNamespace="http://schemas.microsoft.com/office/2006/metadata/properties" ma:root="true" ma:fieldsID="3e9bbc201f64ac8db9ea293cbda44119" ns3:_="" ns4:_="">
    <xsd:import namespace="1cf7dc52-e7fd-40ed-9a07-11f6e05ef398"/>
    <xsd:import namespace="4c79e6a5-655a-42be-b0b8-48fff79ca81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f7dc52-e7fd-40ed-9a07-11f6e05ef3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79e6a5-655a-42be-b0b8-48fff79ca81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cf7dc52-e7fd-40ed-9a07-11f6e05ef398" xsi:nil="true"/>
  </documentManagement>
</p:properties>
</file>

<file path=customXml/itemProps1.xml><?xml version="1.0" encoding="utf-8"?>
<ds:datastoreItem xmlns:ds="http://schemas.openxmlformats.org/officeDocument/2006/customXml" ds:itemID="{67171498-19C9-4228-A47B-ED28094B3835}">
  <ds:schemaRefs>
    <ds:schemaRef ds:uri="1cf7dc52-e7fd-40ed-9a07-11f6e05ef398"/>
    <ds:schemaRef ds:uri="4c79e6a5-655a-42be-b0b8-48fff79ca81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14F9B69-CBE6-47A1-9B5E-FEBC774C9D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F54F-D97B-4CDD-8EC8-6F4BA4858E42}">
  <ds:schemaRefs>
    <ds:schemaRef ds:uri="1cf7dc52-e7fd-40ed-9a07-11f6e05ef398"/>
    <ds:schemaRef ds:uri="4c79e6a5-655a-42be-b0b8-48fff79ca81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734</Words>
  <Application>Microsoft Office PowerPoint</Application>
  <PresentationFormat>ワイド画面</PresentationFormat>
  <Paragraphs>151</Paragraphs>
  <Slides>9</Slides>
  <Notes>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7" baseType="lpstr">
      <vt:lpstr>BIZ UDPゴシック</vt:lpstr>
      <vt:lpstr>HGP創英ﾌﾟﾚｾﾞﾝｽEB</vt:lpstr>
      <vt:lpstr>Meiryo</vt:lpstr>
      <vt:lpstr>游ゴシック</vt:lpstr>
      <vt:lpstr>Arial</vt:lpstr>
      <vt:lpstr>Calibri</vt:lpstr>
      <vt:lpstr>Calibri Light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THS23 楽巌寺時意</dc:creator>
  <cp:lastModifiedBy>THS23 安田晴人</cp:lastModifiedBy>
  <cp:revision>1</cp:revision>
  <dcterms:created xsi:type="dcterms:W3CDTF">2023-11-10T04:07:28Z</dcterms:created>
  <dcterms:modified xsi:type="dcterms:W3CDTF">2023-11-17T08:25:34Z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0x010100F25A8E2EECE2364DBF5A6ECC919CB978</vt:lpwstr>
  </property>
</Properties>
</file>